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Literata Bold" charset="1" panose="00000000000000000000"/>
      <p:regular r:id="rId35"/>
    </p:embeddedFont>
    <p:embeddedFont>
      <p:font typeface="Literata" charset="1" panose="00000000000000000000"/>
      <p:regular r:id="rId36"/>
    </p:embeddedFont>
    <p:embeddedFont>
      <p:font typeface="Quattrocento" charset="1" panose="02020502030000000404"/>
      <p:regular r:id="rId37"/>
    </p:embeddedFont>
    <p:embeddedFont>
      <p:font typeface="Quattrocento Bold" charset="1" panose="020208020300000004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4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notesSlides/notesSlide9.xml" Type="http://schemas.openxmlformats.org/officeDocument/2006/relationships/notesSlide"/><Relationship Id="rId47" Target="notesSlides/notesSlide10.xml" Type="http://schemas.openxmlformats.org/officeDocument/2006/relationships/notesSlide"/><Relationship Id="rId48" Target="notesSlides/notesSlide11.xml" Type="http://schemas.openxmlformats.org/officeDocument/2006/relationships/notesSlide"/><Relationship Id="rId49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3.xml" Type="http://schemas.openxmlformats.org/officeDocument/2006/relationships/notesSlide"/><Relationship Id="rId51" Target="notesSlides/notesSlide14.xml" Type="http://schemas.openxmlformats.org/officeDocument/2006/relationships/notesSlide"/><Relationship Id="rId52" Target="notesSlides/notesSlide15.xml" Type="http://schemas.openxmlformats.org/officeDocument/2006/relationships/notesSlide"/><Relationship Id="rId53" Target="notesSlides/notesSlide16.xml" Type="http://schemas.openxmlformats.org/officeDocument/2006/relationships/notesSlide"/><Relationship Id="rId54" Target="notesSlides/notesSlide17.xml" Type="http://schemas.openxmlformats.org/officeDocument/2006/relationships/notesSlide"/><Relationship Id="rId55" Target="notesSlides/notesSlide18.xml" Type="http://schemas.openxmlformats.org/officeDocument/2006/relationships/notesSlide"/><Relationship Id="rId56" Target="notesSlides/notesSlide19.xml" Type="http://schemas.openxmlformats.org/officeDocument/2006/relationships/notesSlide"/><Relationship Id="rId57" Target="notesSlides/notesSlide20.xml" Type="http://schemas.openxmlformats.org/officeDocument/2006/relationships/notesSlide"/><Relationship Id="rId58" Target="notesSlides/notesSlide21.xml" Type="http://schemas.openxmlformats.org/officeDocument/2006/relationships/notesSlide"/><Relationship Id="rId59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3.xml" Type="http://schemas.openxmlformats.org/officeDocument/2006/relationships/notesSlide"/><Relationship Id="rId61" Target="notesSlides/notesSlide24.xml" Type="http://schemas.openxmlformats.org/officeDocument/2006/relationships/notesSlide"/><Relationship Id="rId62" Target="notesSlides/notesSlide25.xml" Type="http://schemas.openxmlformats.org/officeDocument/2006/relationships/notesSlide"/><Relationship Id="rId63" Target="notesSlides/notesSlide26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37288" y="1804779"/>
            <a:ext cx="3130603" cy="62614"/>
            <a:chOff x="0" y="0"/>
            <a:chExt cx="3809251" cy="76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09238" cy="76200"/>
            </a:xfrm>
            <a:custGeom>
              <a:avLst/>
              <a:gdLst/>
              <a:ahLst/>
              <a:cxnLst/>
              <a:rect r="r" b="b" t="t" l="l"/>
              <a:pathLst>
                <a:path h="76200" w="3809238">
                  <a:moveTo>
                    <a:pt x="0" y="0"/>
                  </a:moveTo>
                  <a:lnTo>
                    <a:pt x="3809238" y="0"/>
                  </a:lnTo>
                  <a:lnTo>
                    <a:pt x="380923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4298" y="2211827"/>
            <a:ext cx="17556584" cy="2617527"/>
            <a:chOff x="0" y="0"/>
            <a:chExt cx="19046279" cy="28396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46279" cy="2839634"/>
            </a:xfrm>
            <a:custGeom>
              <a:avLst/>
              <a:gdLst/>
              <a:ahLst/>
              <a:cxnLst/>
              <a:rect r="r" b="b" t="t" l="l"/>
              <a:pathLst>
                <a:path h="2839634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2839634"/>
                  </a:lnTo>
                  <a:lnTo>
                    <a:pt x="0" y="28396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16" r="0" b="-541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80975"/>
              <a:ext cx="19046279" cy="3020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446"/>
                </a:lnSpc>
              </a:pPr>
              <a:r>
                <a:rPr lang="en-US" b="true" sz="7948" spc="604">
                  <a:solidFill>
                    <a:srgbClr val="FFFFF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PETFIND </a:t>
              </a:r>
            </a:p>
            <a:p>
              <a:pPr algn="ctr">
                <a:lnSpc>
                  <a:spcPts val="5759"/>
                </a:lnSpc>
              </a:pPr>
              <a:r>
                <a:rPr lang="en-US" sz="3999" spc="307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PROTOTIPO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54832" y="5175246"/>
            <a:ext cx="9895515" cy="197916"/>
            <a:chOff x="0" y="0"/>
            <a:chExt cx="3809251" cy="761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09238" cy="76200"/>
            </a:xfrm>
            <a:custGeom>
              <a:avLst/>
              <a:gdLst/>
              <a:ahLst/>
              <a:cxnLst/>
              <a:rect r="r" b="b" t="t" l="l"/>
              <a:pathLst>
                <a:path h="76200" w="3809238">
                  <a:moveTo>
                    <a:pt x="0" y="0"/>
                  </a:moveTo>
                  <a:lnTo>
                    <a:pt x="3809238" y="0"/>
                  </a:lnTo>
                  <a:lnTo>
                    <a:pt x="380923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371449" y="5719054"/>
            <a:ext cx="13862282" cy="693111"/>
            <a:chOff x="0" y="0"/>
            <a:chExt cx="15237028" cy="7618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37023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5237028" cy="828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04237" y="5805693"/>
            <a:ext cx="10396706" cy="519833"/>
            <a:chOff x="0" y="0"/>
            <a:chExt cx="11427765" cy="5713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27768" cy="571388"/>
            </a:xfrm>
            <a:custGeom>
              <a:avLst/>
              <a:gdLst/>
              <a:ahLst/>
              <a:cxnLst/>
              <a:rect r="r" b="b" t="t" l="l"/>
              <a:pathLst>
                <a:path h="571388" w="11427768">
                  <a:moveTo>
                    <a:pt x="0" y="0"/>
                  </a:moveTo>
                  <a:lnTo>
                    <a:pt x="11427768" y="0"/>
                  </a:lnTo>
                  <a:lnTo>
                    <a:pt x="11427768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427765" cy="619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1"/>
                </a:lnSpc>
              </a:pPr>
              <a:r>
                <a:rPr lang="en-US" sz="17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Proyecto Final — Introducción a la Programación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94336" y="6755065"/>
            <a:ext cx="2616508" cy="641128"/>
            <a:chOff x="0" y="0"/>
            <a:chExt cx="2875991" cy="7047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76042" cy="704723"/>
            </a:xfrm>
            <a:custGeom>
              <a:avLst/>
              <a:gdLst/>
              <a:ahLst/>
              <a:cxnLst/>
              <a:rect r="r" b="b" t="t" l="l"/>
              <a:pathLst>
                <a:path h="704723" w="2876042">
                  <a:moveTo>
                    <a:pt x="0" y="56388"/>
                  </a:moveTo>
                  <a:cubicBezTo>
                    <a:pt x="0" y="25273"/>
                    <a:pt x="25273" y="0"/>
                    <a:pt x="56388" y="0"/>
                  </a:cubicBezTo>
                  <a:lnTo>
                    <a:pt x="2819654" y="0"/>
                  </a:lnTo>
                  <a:cubicBezTo>
                    <a:pt x="2850769" y="0"/>
                    <a:pt x="2876042" y="25273"/>
                    <a:pt x="2876042" y="56388"/>
                  </a:cubicBezTo>
                  <a:lnTo>
                    <a:pt x="2876042" y="648335"/>
                  </a:lnTo>
                  <a:cubicBezTo>
                    <a:pt x="2876042" y="679450"/>
                    <a:pt x="2850769" y="704723"/>
                    <a:pt x="2819654" y="704723"/>
                  </a:cubicBezTo>
                  <a:lnTo>
                    <a:pt x="56388" y="704723"/>
                  </a:lnTo>
                  <a:cubicBezTo>
                    <a:pt x="25273" y="704723"/>
                    <a:pt x="0" y="679450"/>
                    <a:pt x="0" y="648335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003001" y="6763730"/>
            <a:ext cx="2599176" cy="623797"/>
            <a:chOff x="0" y="0"/>
            <a:chExt cx="2856941" cy="6856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56942" cy="685666"/>
            </a:xfrm>
            <a:custGeom>
              <a:avLst/>
              <a:gdLst/>
              <a:ahLst/>
              <a:cxnLst/>
              <a:rect r="r" b="b" t="t" l="l"/>
              <a:pathLst>
                <a:path h="685666" w="2856942">
                  <a:moveTo>
                    <a:pt x="0" y="0"/>
                  </a:moveTo>
                  <a:lnTo>
                    <a:pt x="2856942" y="0"/>
                  </a:lnTo>
                  <a:lnTo>
                    <a:pt x="2856942" y="685666"/>
                  </a:lnTo>
                  <a:lnTo>
                    <a:pt x="0" y="6856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8" r="0" b="-3118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856941" cy="72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spc="22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C# CONSOLE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642814"/>
            <a:ext cx="6022975" cy="1192835"/>
            <a:chOff x="0" y="0"/>
            <a:chExt cx="5713882" cy="11316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884" cy="1131623"/>
            </a:xfrm>
            <a:custGeom>
              <a:avLst/>
              <a:gdLst/>
              <a:ahLst/>
              <a:cxnLst/>
              <a:rect r="r" b="b" t="t" l="l"/>
              <a:pathLst>
                <a:path h="1131623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1131623"/>
                  </a:lnTo>
                  <a:lnTo>
                    <a:pt x="0" y="11316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139" r="0" b="-236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713882" cy="1188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1"/>
                </a:lnSpc>
              </a:pPr>
              <a:r>
                <a:rPr lang="en-US" sz="2174" spc="466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TABLA DE CONTENIDO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9038" y="1724345"/>
            <a:ext cx="16570262" cy="111303"/>
            <a:chOff x="0" y="0"/>
            <a:chExt cx="22093682" cy="1484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3682" cy="148417"/>
            </a:xfrm>
            <a:custGeom>
              <a:avLst/>
              <a:gdLst/>
              <a:ahLst/>
              <a:cxnLst/>
              <a:rect r="r" b="b" t="t" l="l"/>
              <a:pathLst>
                <a:path h="148417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48417"/>
                  </a:lnTo>
                  <a:lnTo>
                    <a:pt x="0" y="148417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2003018"/>
            <a:ext cx="7813651" cy="1307022"/>
            <a:chOff x="0" y="0"/>
            <a:chExt cx="7795820" cy="13040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95820" cy="1304043"/>
            </a:xfrm>
            <a:custGeom>
              <a:avLst/>
              <a:gdLst/>
              <a:ahLst/>
              <a:cxnLst/>
              <a:rect r="r" b="b" t="t" l="l"/>
              <a:pathLst>
                <a:path h="1304043" w="7795820">
                  <a:moveTo>
                    <a:pt x="0" y="0"/>
                  </a:moveTo>
                  <a:lnTo>
                    <a:pt x="7795820" y="0"/>
                  </a:lnTo>
                  <a:lnTo>
                    <a:pt x="7795820" y="1304043"/>
                  </a:lnTo>
                  <a:lnTo>
                    <a:pt x="0" y="1304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6" r="-36815" b="-9588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7795820" cy="1370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2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01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</a:t>
              </a:r>
              <a:r>
                <a:rPr lang="en-US" sz="2299">
                  <a:solidFill>
                    <a:srgbClr val="6E7681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—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Estructuras de Datos y Variables Globales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3440744"/>
            <a:ext cx="7813651" cy="1307022"/>
            <a:chOff x="0" y="0"/>
            <a:chExt cx="7795820" cy="13040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95820" cy="1304043"/>
            </a:xfrm>
            <a:custGeom>
              <a:avLst/>
              <a:gdLst/>
              <a:ahLst/>
              <a:cxnLst/>
              <a:rect r="r" b="b" t="t" l="l"/>
              <a:pathLst>
                <a:path h="1304043" w="7795820">
                  <a:moveTo>
                    <a:pt x="0" y="0"/>
                  </a:moveTo>
                  <a:lnTo>
                    <a:pt x="7795820" y="0"/>
                  </a:lnTo>
                  <a:lnTo>
                    <a:pt x="7795820" y="1304043"/>
                  </a:lnTo>
                  <a:lnTo>
                    <a:pt x="0" y="1304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6" r="-36815" b="-9588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795820" cy="1370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2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02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</a:t>
              </a:r>
              <a:r>
                <a:rPr lang="en-US" sz="2299">
                  <a:solidFill>
                    <a:srgbClr val="6E7681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—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Funciones de Utilidad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079" y="4878452"/>
            <a:ext cx="7813651" cy="1307022"/>
            <a:chOff x="0" y="0"/>
            <a:chExt cx="7795820" cy="13040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95820" cy="1304043"/>
            </a:xfrm>
            <a:custGeom>
              <a:avLst/>
              <a:gdLst/>
              <a:ahLst/>
              <a:cxnLst/>
              <a:rect r="r" b="b" t="t" l="l"/>
              <a:pathLst>
                <a:path h="1304043" w="7795820">
                  <a:moveTo>
                    <a:pt x="0" y="0"/>
                  </a:moveTo>
                  <a:lnTo>
                    <a:pt x="7795820" y="0"/>
                  </a:lnTo>
                  <a:lnTo>
                    <a:pt x="7795820" y="1304043"/>
                  </a:lnTo>
                  <a:lnTo>
                    <a:pt x="0" y="1304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6" r="-36815" b="-9588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795820" cy="1370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2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03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</a:t>
              </a:r>
              <a:r>
                <a:rPr lang="en-US" sz="2299">
                  <a:solidFill>
                    <a:srgbClr val="6E7681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—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Flujo Principal del Programa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7079" y="6316178"/>
            <a:ext cx="7813651" cy="1307022"/>
            <a:chOff x="0" y="0"/>
            <a:chExt cx="7795820" cy="13040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95820" cy="1304043"/>
            </a:xfrm>
            <a:custGeom>
              <a:avLst/>
              <a:gdLst/>
              <a:ahLst/>
              <a:cxnLst/>
              <a:rect r="r" b="b" t="t" l="l"/>
              <a:pathLst>
                <a:path h="1304043" w="7795820">
                  <a:moveTo>
                    <a:pt x="0" y="0"/>
                  </a:moveTo>
                  <a:lnTo>
                    <a:pt x="7795820" y="0"/>
                  </a:lnTo>
                  <a:lnTo>
                    <a:pt x="7795820" y="1304043"/>
                  </a:lnTo>
                  <a:lnTo>
                    <a:pt x="0" y="1304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6" r="-36815" b="-9588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795820" cy="1370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2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04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</a:t>
              </a:r>
              <a:r>
                <a:rPr lang="en-US" sz="2299">
                  <a:solidFill>
                    <a:srgbClr val="6E7681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—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Sistema de Autenticación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7079" y="7753904"/>
            <a:ext cx="7813651" cy="1307022"/>
            <a:chOff x="0" y="0"/>
            <a:chExt cx="7795820" cy="13040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95820" cy="1304043"/>
            </a:xfrm>
            <a:custGeom>
              <a:avLst/>
              <a:gdLst/>
              <a:ahLst/>
              <a:cxnLst/>
              <a:rect r="r" b="b" t="t" l="l"/>
              <a:pathLst>
                <a:path h="1304043" w="7795820">
                  <a:moveTo>
                    <a:pt x="0" y="0"/>
                  </a:moveTo>
                  <a:lnTo>
                    <a:pt x="7795820" y="0"/>
                  </a:lnTo>
                  <a:lnTo>
                    <a:pt x="7795820" y="1304043"/>
                  </a:lnTo>
                  <a:lnTo>
                    <a:pt x="0" y="1304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6" r="-36815" b="-958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7795820" cy="1370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2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05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</a:t>
              </a:r>
              <a:r>
                <a:rPr lang="en-US" sz="2299">
                  <a:solidFill>
                    <a:srgbClr val="6E7681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—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Gestión de Mascotas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28855" y="2003018"/>
            <a:ext cx="7813651" cy="1307022"/>
            <a:chOff x="0" y="0"/>
            <a:chExt cx="7795820" cy="13040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95820" cy="1304043"/>
            </a:xfrm>
            <a:custGeom>
              <a:avLst/>
              <a:gdLst/>
              <a:ahLst/>
              <a:cxnLst/>
              <a:rect r="r" b="b" t="t" l="l"/>
              <a:pathLst>
                <a:path h="1304043" w="7795820">
                  <a:moveTo>
                    <a:pt x="0" y="0"/>
                  </a:moveTo>
                  <a:lnTo>
                    <a:pt x="7795820" y="0"/>
                  </a:lnTo>
                  <a:lnTo>
                    <a:pt x="7795820" y="1304043"/>
                  </a:lnTo>
                  <a:lnTo>
                    <a:pt x="0" y="1304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6" r="-36815" b="-9588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7795820" cy="1370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2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06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</a:t>
              </a:r>
              <a:r>
                <a:rPr lang="en-US" sz="2299">
                  <a:solidFill>
                    <a:srgbClr val="6E7681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—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Expediente Médico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28855" y="3440744"/>
            <a:ext cx="7813651" cy="1307022"/>
            <a:chOff x="0" y="0"/>
            <a:chExt cx="7795820" cy="13040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795820" cy="1304043"/>
            </a:xfrm>
            <a:custGeom>
              <a:avLst/>
              <a:gdLst/>
              <a:ahLst/>
              <a:cxnLst/>
              <a:rect r="r" b="b" t="t" l="l"/>
              <a:pathLst>
                <a:path h="1304043" w="7795820">
                  <a:moveTo>
                    <a:pt x="0" y="0"/>
                  </a:moveTo>
                  <a:lnTo>
                    <a:pt x="7795820" y="0"/>
                  </a:lnTo>
                  <a:lnTo>
                    <a:pt x="7795820" y="1304043"/>
                  </a:lnTo>
                  <a:lnTo>
                    <a:pt x="0" y="1304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6" r="-36815" b="-9588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7795820" cy="1370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2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07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</a:t>
              </a:r>
              <a:r>
                <a:rPr lang="en-US" sz="2299">
                  <a:solidFill>
                    <a:srgbClr val="6E7681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—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Reportes de Mascotas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28855" y="4878452"/>
            <a:ext cx="7813651" cy="1307022"/>
            <a:chOff x="0" y="0"/>
            <a:chExt cx="7795820" cy="13040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795820" cy="1304043"/>
            </a:xfrm>
            <a:custGeom>
              <a:avLst/>
              <a:gdLst/>
              <a:ahLst/>
              <a:cxnLst/>
              <a:rect r="r" b="b" t="t" l="l"/>
              <a:pathLst>
                <a:path h="1304043" w="7795820">
                  <a:moveTo>
                    <a:pt x="0" y="0"/>
                  </a:moveTo>
                  <a:lnTo>
                    <a:pt x="7795820" y="0"/>
                  </a:lnTo>
                  <a:lnTo>
                    <a:pt x="7795820" y="1304043"/>
                  </a:lnTo>
                  <a:lnTo>
                    <a:pt x="0" y="1304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6" r="-36815" b="-9588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7795820" cy="1370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2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08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</a:t>
              </a:r>
              <a:r>
                <a:rPr lang="en-US" sz="2299">
                  <a:solidFill>
                    <a:srgbClr val="6E7681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—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Sistema PetPoints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28855" y="6316178"/>
            <a:ext cx="7813651" cy="1307022"/>
            <a:chOff x="0" y="0"/>
            <a:chExt cx="7795820" cy="13040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795820" cy="1304043"/>
            </a:xfrm>
            <a:custGeom>
              <a:avLst/>
              <a:gdLst/>
              <a:ahLst/>
              <a:cxnLst/>
              <a:rect r="r" b="b" t="t" l="l"/>
              <a:pathLst>
                <a:path h="1304043" w="7795820">
                  <a:moveTo>
                    <a:pt x="0" y="0"/>
                  </a:moveTo>
                  <a:lnTo>
                    <a:pt x="7795820" y="0"/>
                  </a:lnTo>
                  <a:lnTo>
                    <a:pt x="7795820" y="1304043"/>
                  </a:lnTo>
                  <a:lnTo>
                    <a:pt x="0" y="1304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6" r="-36815" b="-9588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7795820" cy="1370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2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09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</a:t>
              </a:r>
              <a:r>
                <a:rPr lang="en-US" sz="2299">
                  <a:solidFill>
                    <a:srgbClr val="6E7681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—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Exportación CSV y Cierre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228855" y="7753904"/>
            <a:ext cx="7813651" cy="1307022"/>
            <a:chOff x="0" y="0"/>
            <a:chExt cx="7795820" cy="13040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95820" cy="1304043"/>
            </a:xfrm>
            <a:custGeom>
              <a:avLst/>
              <a:gdLst/>
              <a:ahLst/>
              <a:cxnLst/>
              <a:rect r="r" b="b" t="t" l="l"/>
              <a:pathLst>
                <a:path h="1304043" w="7795820">
                  <a:moveTo>
                    <a:pt x="0" y="0"/>
                  </a:moveTo>
                  <a:lnTo>
                    <a:pt x="7795820" y="0"/>
                  </a:lnTo>
                  <a:lnTo>
                    <a:pt x="7795820" y="1304043"/>
                  </a:lnTo>
                  <a:lnTo>
                    <a:pt x="0" y="1304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6" r="-36815" b="-9588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7795820" cy="1370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2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10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</a:t>
              </a:r>
              <a:r>
                <a:rPr lang="en-US" sz="2299">
                  <a:solidFill>
                    <a:srgbClr val="6E7681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—</a:t>
              </a:r>
              <a:r>
                <a:rPr lang="en-US" sz="22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Formas de Reescribir el Código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2571245"/>
            <a:ext cx="4912826" cy="2670913"/>
            <a:chOff x="0" y="0"/>
            <a:chExt cx="5713882" cy="3106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884" cy="3106412"/>
            </a:xfrm>
            <a:custGeom>
              <a:avLst/>
              <a:gdLst/>
              <a:ahLst/>
              <a:cxnLst/>
              <a:rect r="r" b="b" t="t" l="l"/>
              <a:pathLst>
                <a:path h="3106412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3106412"/>
                  </a:lnTo>
                  <a:lnTo>
                    <a:pt x="0" y="31064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" r="0" b="304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47650"/>
              <a:ext cx="5713882" cy="3354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92"/>
                </a:lnSpc>
              </a:pPr>
              <a:r>
                <a:rPr lang="en-US" sz="10897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4700138"/>
            <a:ext cx="1965133" cy="65506"/>
            <a:chOff x="0" y="0"/>
            <a:chExt cx="2285556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5492" cy="76200"/>
            </a:xfrm>
            <a:custGeom>
              <a:avLst/>
              <a:gdLst/>
              <a:ahLst/>
              <a:cxnLst/>
              <a:rect r="r" b="b" t="t" l="l"/>
              <a:pathLst>
                <a:path h="76200" w="2285492">
                  <a:moveTo>
                    <a:pt x="0" y="0"/>
                  </a:moveTo>
                  <a:lnTo>
                    <a:pt x="2285492" y="0"/>
                  </a:lnTo>
                  <a:lnTo>
                    <a:pt x="228549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5191418"/>
            <a:ext cx="13100877" cy="1010647"/>
            <a:chOff x="0" y="0"/>
            <a:chExt cx="15237028" cy="11754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3" cy="1175441"/>
            </a:xfrm>
            <a:custGeom>
              <a:avLst/>
              <a:gdLst/>
              <a:ahLst/>
              <a:cxnLst/>
              <a:rect r="r" b="b" t="t" l="l"/>
              <a:pathLst>
                <a:path h="1175441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1175441"/>
                  </a:lnTo>
                  <a:lnTo>
                    <a:pt x="0" y="1175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072" r="0" b="-19308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5237028" cy="12706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74"/>
                </a:lnSpc>
              </a:pPr>
              <a:r>
                <a:rPr lang="en-US" sz="414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Estructuras de Datos y Variables Globales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6173990"/>
            <a:ext cx="11463264" cy="491283"/>
            <a:chOff x="0" y="0"/>
            <a:chExt cx="13332396" cy="5713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571391"/>
            </a:xfrm>
            <a:custGeom>
              <a:avLst/>
              <a:gdLst/>
              <a:ahLst/>
              <a:cxnLst/>
              <a:rect r="r" b="b" t="t" l="l"/>
              <a:pathLst>
                <a:path h="571391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49" r="0" b="-40464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332396" cy="628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124">
                  <a:solidFill>
                    <a:srgbClr val="B4B4B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Los cimientos del sistema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8"/>
            <a:chOff x="0" y="0"/>
            <a:chExt cx="9523146" cy="7618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5"/>
            </a:xfrm>
            <a:custGeom>
              <a:avLst/>
              <a:gdLst/>
              <a:ahLst/>
              <a:cxnLst/>
              <a:rect r="r" b="b" t="t" l="l"/>
              <a:pathLst>
                <a:path h="761855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523146" cy="79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01</a:t>
              </a:r>
              <a:r>
                <a:rPr lang="en-US" sz="15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ESTRUCTURAS DE DATOS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8"/>
            <a:chOff x="0" y="0"/>
            <a:chExt cx="1523708" cy="761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5"/>
            </a:xfrm>
            <a:custGeom>
              <a:avLst/>
              <a:gdLst/>
              <a:ahLst/>
              <a:cxnLst/>
              <a:rect r="r" b="b" t="t" l="l"/>
              <a:pathLst>
                <a:path h="761855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23708" cy="79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31"/>
                </a:lnSpc>
              </a:pPr>
              <a:r>
                <a:rPr lang="en-US" sz="15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04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622306"/>
            <a:ext cx="9999297" cy="812789"/>
            <a:chOff x="0" y="0"/>
            <a:chExt cx="13332396" cy="10837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1083713"/>
            </a:xfrm>
            <a:custGeom>
              <a:avLst/>
              <a:gdLst/>
              <a:ahLst/>
              <a:cxnLst/>
              <a:rect r="r" b="b" t="t" l="l"/>
              <a:pathLst>
                <a:path h="1083713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1083713"/>
                  </a:lnTo>
                  <a:lnTo>
                    <a:pt x="0" y="10837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07" r="0" b="-17662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33350"/>
              <a:ext cx="13332396" cy="1217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26"/>
                </a:lnSpc>
              </a:pPr>
              <a:r>
                <a:rPr lang="en-US" sz="37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Structs y Variables Globales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079" y="1457039"/>
            <a:ext cx="16570262" cy="28565"/>
            <a:chOff x="0" y="0"/>
            <a:chExt cx="2209368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9944" y="1707023"/>
            <a:ext cx="7942297" cy="3728314"/>
            <a:chOff x="0" y="0"/>
            <a:chExt cx="10589730" cy="49710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89641" cy="4971034"/>
            </a:xfrm>
            <a:custGeom>
              <a:avLst/>
              <a:gdLst/>
              <a:ahLst/>
              <a:cxnLst/>
              <a:rect r="r" b="b" t="t" l="l"/>
              <a:pathLst>
                <a:path h="4971034" w="10589641">
                  <a:moveTo>
                    <a:pt x="0" y="397637"/>
                  </a:moveTo>
                  <a:cubicBezTo>
                    <a:pt x="0" y="178054"/>
                    <a:pt x="178054" y="0"/>
                    <a:pt x="397637" y="0"/>
                  </a:cubicBezTo>
                  <a:lnTo>
                    <a:pt x="10192004" y="0"/>
                  </a:lnTo>
                  <a:cubicBezTo>
                    <a:pt x="10411587" y="0"/>
                    <a:pt x="10589641" y="178054"/>
                    <a:pt x="10589641" y="397637"/>
                  </a:cubicBezTo>
                  <a:lnTo>
                    <a:pt x="10589641" y="4573397"/>
                  </a:lnTo>
                  <a:cubicBezTo>
                    <a:pt x="10589641" y="4792980"/>
                    <a:pt x="10411587" y="4971034"/>
                    <a:pt x="10192004" y="4971034"/>
                  </a:cubicBezTo>
                  <a:lnTo>
                    <a:pt x="397637" y="4971034"/>
                  </a:lnTo>
                  <a:cubicBezTo>
                    <a:pt x="178054" y="4971034"/>
                    <a:pt x="0" y="4792980"/>
                    <a:pt x="0" y="4573397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42781" y="1857013"/>
            <a:ext cx="2856938" cy="399972"/>
            <a:chOff x="0" y="0"/>
            <a:chExt cx="3809251" cy="533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09256" cy="533293"/>
            </a:xfrm>
            <a:custGeom>
              <a:avLst/>
              <a:gdLst/>
              <a:ahLst/>
              <a:cxnLst/>
              <a:rect r="r" b="b" t="t" l="l"/>
              <a:pathLst>
                <a:path h="533293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533293"/>
                  </a:lnTo>
                  <a:lnTo>
                    <a:pt x="0" y="533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809251" cy="580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 spc="253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STRUCT USUARIO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2781" y="2209352"/>
            <a:ext cx="7356624" cy="1969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struct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  <a:r>
              <a:rPr lang="en-US" sz="1774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Usuario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public string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nombre, usuario, telefono, clave;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public int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petPoints;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}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2186" y="1707023"/>
            <a:ext cx="7942297" cy="3728314"/>
            <a:chOff x="0" y="0"/>
            <a:chExt cx="10589730" cy="497108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89641" cy="4971034"/>
            </a:xfrm>
            <a:custGeom>
              <a:avLst/>
              <a:gdLst/>
              <a:ahLst/>
              <a:cxnLst/>
              <a:rect r="r" b="b" t="t" l="l"/>
              <a:pathLst>
                <a:path h="4971034" w="10589641">
                  <a:moveTo>
                    <a:pt x="0" y="397637"/>
                  </a:moveTo>
                  <a:cubicBezTo>
                    <a:pt x="0" y="178054"/>
                    <a:pt x="178054" y="0"/>
                    <a:pt x="397637" y="0"/>
                  </a:cubicBezTo>
                  <a:lnTo>
                    <a:pt x="10192004" y="0"/>
                  </a:lnTo>
                  <a:cubicBezTo>
                    <a:pt x="10411587" y="0"/>
                    <a:pt x="10589641" y="178054"/>
                    <a:pt x="10589641" y="397637"/>
                  </a:cubicBezTo>
                  <a:lnTo>
                    <a:pt x="10589641" y="4573397"/>
                  </a:lnTo>
                  <a:cubicBezTo>
                    <a:pt x="10589641" y="4792980"/>
                    <a:pt x="10411587" y="4971034"/>
                    <a:pt x="10192004" y="4971034"/>
                  </a:cubicBezTo>
                  <a:lnTo>
                    <a:pt x="397637" y="4971034"/>
                  </a:lnTo>
                  <a:cubicBezTo>
                    <a:pt x="178054" y="4971034"/>
                    <a:pt x="0" y="4792980"/>
                    <a:pt x="0" y="4573397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785023" y="1857013"/>
            <a:ext cx="2856938" cy="399972"/>
            <a:chOff x="0" y="0"/>
            <a:chExt cx="3809251" cy="5332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09256" cy="533293"/>
            </a:xfrm>
            <a:custGeom>
              <a:avLst/>
              <a:gdLst/>
              <a:ahLst/>
              <a:cxnLst/>
              <a:rect r="r" b="b" t="t" l="l"/>
              <a:pathLst>
                <a:path h="533293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533293"/>
                  </a:lnTo>
                  <a:lnTo>
                    <a:pt x="0" y="533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809251" cy="580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 spc="253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STRUCT MASCOTA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785023" y="2209352"/>
            <a:ext cx="7356624" cy="316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struct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  <a:r>
              <a:rPr lang="en-US" sz="1774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Mascota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public int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id; </a:t>
            </a: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public string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duenoUsuario;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public string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nombre, especie, raza, color;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public string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sangre, alergias, vacunas, condicion;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public string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rasgoCaract, citasMedicas;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public bool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extraviada;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}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57079" y="5713886"/>
            <a:ext cx="5713886" cy="399972"/>
            <a:chOff x="0" y="0"/>
            <a:chExt cx="7618514" cy="5332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18512" cy="533293"/>
            </a:xfrm>
            <a:custGeom>
              <a:avLst/>
              <a:gdLst/>
              <a:ahLst/>
              <a:cxnLst/>
              <a:rect r="r" b="b" t="t" l="l"/>
              <a:pathLst>
                <a:path h="533293" w="7618512">
                  <a:moveTo>
                    <a:pt x="0" y="0"/>
                  </a:moveTo>
                  <a:lnTo>
                    <a:pt x="7618512" y="0"/>
                  </a:lnTo>
                  <a:lnTo>
                    <a:pt x="7618512" y="533293"/>
                  </a:lnTo>
                  <a:lnTo>
                    <a:pt x="0" y="533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8" r="0" b="-22835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618514" cy="580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 spc="253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VARIABLES GLOBALES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57079" y="6066215"/>
            <a:ext cx="7999438" cy="236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Usuario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[] usuarios = </a:t>
            </a: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new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  <a:r>
              <a:rPr lang="en-US" sz="1774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Usuario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[100];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Mascota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[] mascotas = </a:t>
            </a: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new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  <a:r>
              <a:rPr lang="en-US" sz="1774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Mascota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[100];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int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totalMascotas = 0, totalUsuarios = 0;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bool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sesionIniciada = </a:t>
            </a:r>
            <a:r>
              <a:rPr lang="en-US" sz="1774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false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string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usuarioActivo = </a:t>
            </a:r>
            <a:r>
              <a:rPr lang="en-US" sz="1774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""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194"/>
              </a:lnSpc>
            </a:pPr>
            <a:r>
              <a:rPr lang="en-US" sz="17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int</a:t>
            </a:r>
            <a:r>
              <a:rPr lang="en-US" sz="17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menu = 0, mascotasExtraviadas = 0;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99330" y="5561486"/>
            <a:ext cx="7928010" cy="355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1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¿Qué son los structs?</a:t>
            </a:r>
          </a:p>
          <a:p>
            <a:pPr algn="l">
              <a:lnSpc>
                <a:spcPts val="4079"/>
              </a:lnSpc>
            </a:pP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Son </a:t>
            </a:r>
            <a:r>
              <a:rPr lang="en-US" sz="21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tipos de valor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que agrupan variables relacionadas. </a:t>
            </a:r>
            <a:r>
              <a:rPr lang="en-US" sz="21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Usuario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almacena datos de cuenta; </a:t>
            </a:r>
            <a:r>
              <a:rPr lang="en-US" sz="21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Mascota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almacena datos de mascota.</a:t>
            </a:r>
          </a:p>
          <a:p>
            <a:pPr algn="l">
              <a:lnSpc>
                <a:spcPts val="4079"/>
              </a:lnSpc>
            </a:pP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Los </a:t>
            </a:r>
            <a:r>
              <a:rPr lang="en-US" sz="21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arrays de 100 elementos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actúan como base de datos en memoria. Los </a:t>
            </a:r>
            <a:r>
              <a:rPr lang="en-US" sz="21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contadores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(</a:t>
            </a:r>
            <a:r>
              <a:rPr lang="en-US" sz="21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totalMascotas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, </a:t>
            </a:r>
            <a:r>
              <a:rPr lang="en-US" sz="21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totalUsuarios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) llevan el control de elementos ocupados.</a:t>
            </a:r>
          </a:p>
          <a:p>
            <a:pPr algn="l">
              <a:lnSpc>
                <a:spcPts val="4079"/>
              </a:lnSpc>
            </a:pPr>
            <a:r>
              <a:rPr lang="en-US" sz="21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sesionIniciada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y </a:t>
            </a:r>
            <a:r>
              <a:rPr lang="en-US" sz="21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usuarioActivo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controlan el estado de la sesión.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2571245"/>
            <a:ext cx="4800663" cy="1760246"/>
            <a:chOff x="0" y="0"/>
            <a:chExt cx="5713882" cy="2095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884" cy="2095091"/>
            </a:xfrm>
            <a:custGeom>
              <a:avLst/>
              <a:gdLst/>
              <a:ahLst/>
              <a:cxnLst/>
              <a:rect r="r" b="b" t="t" l="l"/>
              <a:pathLst>
                <a:path h="2095091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2095091"/>
                  </a:lnTo>
                  <a:lnTo>
                    <a:pt x="0" y="2095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38125"/>
              <a:ext cx="5713882" cy="233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48"/>
                </a:lnSpc>
              </a:pPr>
              <a:r>
                <a:rPr lang="en-US" sz="10797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4651534"/>
            <a:ext cx="1920267" cy="64011"/>
            <a:chOff x="0" y="0"/>
            <a:chExt cx="2285556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5492" cy="76200"/>
            </a:xfrm>
            <a:custGeom>
              <a:avLst/>
              <a:gdLst/>
              <a:ahLst/>
              <a:cxnLst/>
              <a:rect r="r" b="b" t="t" l="l"/>
              <a:pathLst>
                <a:path h="76200" w="2285492">
                  <a:moveTo>
                    <a:pt x="0" y="0"/>
                  </a:moveTo>
                  <a:lnTo>
                    <a:pt x="2285492" y="0"/>
                  </a:lnTo>
                  <a:lnTo>
                    <a:pt x="228549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5131598"/>
            <a:ext cx="12801774" cy="800107"/>
            <a:chOff x="0" y="0"/>
            <a:chExt cx="15237028" cy="9523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3" cy="952314"/>
            </a:xfrm>
            <a:custGeom>
              <a:avLst/>
              <a:gdLst/>
              <a:ahLst/>
              <a:cxnLst/>
              <a:rect r="r" b="b" t="t" l="l"/>
              <a:pathLst>
                <a:path h="95231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5237028" cy="1047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0"/>
                </a:lnSpc>
              </a:pPr>
              <a:r>
                <a:rPr lang="en-US" sz="404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Funciones de Utilidad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6091737"/>
            <a:ext cx="11201550" cy="480064"/>
            <a:chOff x="0" y="0"/>
            <a:chExt cx="13332396" cy="571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571388"/>
            </a:xfrm>
            <a:custGeom>
              <a:avLst/>
              <a:gdLst/>
              <a:ahLst/>
              <a:cxnLst/>
              <a:rect r="r" b="b" t="t" l="l"/>
              <a:pathLst>
                <a:path h="571388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1" r="0" b="-4046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332396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>
                  <a:solidFill>
                    <a:srgbClr val="B4B4B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Herramientas visuales y de entrada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02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FUNCIONES DE UTILIDAD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06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785660"/>
            <a:ext cx="9999297" cy="782626"/>
            <a:chOff x="0" y="0"/>
            <a:chExt cx="13332396" cy="1043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1043497"/>
            </a:xfrm>
            <a:custGeom>
              <a:avLst/>
              <a:gdLst/>
              <a:ahLst/>
              <a:cxnLst/>
              <a:rect r="r" b="b" t="t" l="l"/>
              <a:pathLst>
                <a:path h="1043497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1043497"/>
                  </a:lnTo>
                  <a:lnTo>
                    <a:pt x="0" y="1043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623" r="0" b="-1872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3332396" cy="1167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70"/>
                </a:lnSpc>
              </a:pPr>
              <a:r>
                <a:rPr lang="en-US" sz="36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Funciones de Visualización (I)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079" y="1675922"/>
            <a:ext cx="16570262" cy="28565"/>
            <a:chOff x="0" y="0"/>
            <a:chExt cx="2209368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7079" y="2249685"/>
            <a:ext cx="7900945" cy="1854259"/>
            <a:chOff x="0" y="0"/>
            <a:chExt cx="9819858" cy="23046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19934" cy="2304669"/>
            </a:xfrm>
            <a:custGeom>
              <a:avLst/>
              <a:gdLst/>
              <a:ahLst/>
              <a:cxnLst/>
              <a:rect r="r" b="b" t="t" l="l"/>
              <a:pathLst>
                <a:path h="2304669" w="9819934">
                  <a:moveTo>
                    <a:pt x="0" y="184404"/>
                  </a:moveTo>
                  <a:cubicBezTo>
                    <a:pt x="0" y="82550"/>
                    <a:pt x="75196" y="0"/>
                    <a:pt x="167977" y="0"/>
                  </a:cubicBezTo>
                  <a:lnTo>
                    <a:pt x="9651950" y="0"/>
                  </a:lnTo>
                  <a:cubicBezTo>
                    <a:pt x="9744731" y="0"/>
                    <a:pt x="9819934" y="82550"/>
                    <a:pt x="9819934" y="184404"/>
                  </a:cubicBezTo>
                  <a:lnTo>
                    <a:pt x="9819934" y="2120265"/>
                  </a:lnTo>
                  <a:cubicBezTo>
                    <a:pt x="9819934" y="2222119"/>
                    <a:pt x="9744731" y="2304669"/>
                    <a:pt x="9651950" y="2304669"/>
                  </a:cubicBezTo>
                  <a:lnTo>
                    <a:pt x="167977" y="2304669"/>
                  </a:lnTo>
                  <a:cubicBezTo>
                    <a:pt x="75196" y="2304542"/>
                    <a:pt x="0" y="2222119"/>
                    <a:pt x="0" y="2120265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43244" y="2379948"/>
            <a:ext cx="4187780" cy="406660"/>
            <a:chOff x="0" y="0"/>
            <a:chExt cx="5204872" cy="5054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04873" cy="505425"/>
            </a:xfrm>
            <a:custGeom>
              <a:avLst/>
              <a:gdLst/>
              <a:ahLst/>
              <a:cxnLst/>
              <a:rect r="r" b="b" t="t" l="l"/>
              <a:pathLst>
                <a:path h="505425" w="5204873">
                  <a:moveTo>
                    <a:pt x="0" y="0"/>
                  </a:moveTo>
                  <a:lnTo>
                    <a:pt x="5204873" y="0"/>
                  </a:lnTo>
                  <a:lnTo>
                    <a:pt x="5204873" y="505425"/>
                  </a:lnTo>
                  <a:lnTo>
                    <a:pt x="0" y="5054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59" r="-9779" b="-1655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204872" cy="5530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FFC107"/>
                  </a:solidFill>
                  <a:latin typeface="Literata"/>
                  <a:ea typeface="Literata"/>
                  <a:cs typeface="Literata"/>
                  <a:sym typeface="Literata"/>
                </a:rPr>
                <a:t>MostrarCarga(int segundos)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3244" y="2694723"/>
            <a:ext cx="7328615" cy="82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1903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for</a:t>
            </a: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</a:t>
            </a:r>
            <a:r>
              <a:rPr lang="en-US" sz="1903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int</a:t>
            </a: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i = 0; i &lt; segundos; i++)</a:t>
            </a:r>
          </a:p>
          <a:p>
            <a:pPr algn="l">
              <a:lnSpc>
                <a:spcPts val="3426"/>
              </a:lnSpc>
            </a:pP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 Thread.Sleep(350); Console.Write(</a:t>
            </a:r>
            <a:r>
              <a:rPr lang="en-US" sz="1903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". "</a:t>
            </a: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 }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62838" y="2249685"/>
            <a:ext cx="7900945" cy="1854259"/>
            <a:chOff x="0" y="0"/>
            <a:chExt cx="9819858" cy="23046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19934" cy="2304669"/>
            </a:xfrm>
            <a:custGeom>
              <a:avLst/>
              <a:gdLst/>
              <a:ahLst/>
              <a:cxnLst/>
              <a:rect r="r" b="b" t="t" l="l"/>
              <a:pathLst>
                <a:path h="2304669" w="9819934">
                  <a:moveTo>
                    <a:pt x="0" y="184404"/>
                  </a:moveTo>
                  <a:cubicBezTo>
                    <a:pt x="0" y="82550"/>
                    <a:pt x="75196" y="0"/>
                    <a:pt x="167977" y="0"/>
                  </a:cubicBezTo>
                  <a:lnTo>
                    <a:pt x="9651950" y="0"/>
                  </a:lnTo>
                  <a:cubicBezTo>
                    <a:pt x="9744731" y="0"/>
                    <a:pt x="9819934" y="82550"/>
                    <a:pt x="9819934" y="184404"/>
                  </a:cubicBezTo>
                  <a:lnTo>
                    <a:pt x="9819934" y="2120265"/>
                  </a:lnTo>
                  <a:cubicBezTo>
                    <a:pt x="9819934" y="2222119"/>
                    <a:pt x="9744731" y="2304669"/>
                    <a:pt x="9651950" y="2304669"/>
                  </a:cubicBezTo>
                  <a:lnTo>
                    <a:pt x="167977" y="2304669"/>
                  </a:lnTo>
                  <a:cubicBezTo>
                    <a:pt x="75196" y="2304542"/>
                    <a:pt x="0" y="2222119"/>
                    <a:pt x="0" y="2120265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449003" y="2379948"/>
            <a:ext cx="4187780" cy="406660"/>
            <a:chOff x="0" y="0"/>
            <a:chExt cx="5204872" cy="5054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04873" cy="505425"/>
            </a:xfrm>
            <a:custGeom>
              <a:avLst/>
              <a:gdLst/>
              <a:ahLst/>
              <a:cxnLst/>
              <a:rect r="r" b="b" t="t" l="l"/>
              <a:pathLst>
                <a:path h="505425" w="5204873">
                  <a:moveTo>
                    <a:pt x="0" y="0"/>
                  </a:moveTo>
                  <a:lnTo>
                    <a:pt x="5204873" y="0"/>
                  </a:lnTo>
                  <a:lnTo>
                    <a:pt x="5204873" y="505425"/>
                  </a:lnTo>
                  <a:lnTo>
                    <a:pt x="0" y="5054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59" r="-9779" b="-1655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204872" cy="5530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F44336"/>
                  </a:solidFill>
                  <a:latin typeface="Literata"/>
                  <a:ea typeface="Literata"/>
                  <a:cs typeface="Literata"/>
                  <a:sym typeface="Literata"/>
                </a:rPr>
                <a:t>MostrarError(string mensaje)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449003" y="2694723"/>
            <a:ext cx="7328615" cy="82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Console.ForegroundColor = </a:t>
            </a:r>
            <a:r>
              <a:rPr lang="en-US" sz="1903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ConsoleColor</a:t>
            </a: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.Red;</a:t>
            </a:r>
          </a:p>
          <a:p>
            <a:pPr algn="l">
              <a:lnSpc>
                <a:spcPts val="3426"/>
              </a:lnSpc>
            </a:pP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Console.WriteLine(mensaje); Console.ResetColor();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57079" y="4395104"/>
            <a:ext cx="7900945" cy="1854259"/>
            <a:chOff x="0" y="0"/>
            <a:chExt cx="9819858" cy="23046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19934" cy="2304669"/>
            </a:xfrm>
            <a:custGeom>
              <a:avLst/>
              <a:gdLst/>
              <a:ahLst/>
              <a:cxnLst/>
              <a:rect r="r" b="b" t="t" l="l"/>
              <a:pathLst>
                <a:path h="2304669" w="9819934">
                  <a:moveTo>
                    <a:pt x="0" y="184404"/>
                  </a:moveTo>
                  <a:cubicBezTo>
                    <a:pt x="0" y="82550"/>
                    <a:pt x="75196" y="0"/>
                    <a:pt x="167977" y="0"/>
                  </a:cubicBezTo>
                  <a:lnTo>
                    <a:pt x="9651950" y="0"/>
                  </a:lnTo>
                  <a:cubicBezTo>
                    <a:pt x="9744731" y="0"/>
                    <a:pt x="9819934" y="82550"/>
                    <a:pt x="9819934" y="184404"/>
                  </a:cubicBezTo>
                  <a:lnTo>
                    <a:pt x="9819934" y="2120265"/>
                  </a:lnTo>
                  <a:cubicBezTo>
                    <a:pt x="9819934" y="2222119"/>
                    <a:pt x="9744731" y="2304669"/>
                    <a:pt x="9651950" y="2304669"/>
                  </a:cubicBezTo>
                  <a:lnTo>
                    <a:pt x="167977" y="2304669"/>
                  </a:lnTo>
                  <a:cubicBezTo>
                    <a:pt x="75196" y="2304542"/>
                    <a:pt x="0" y="2222119"/>
                    <a:pt x="0" y="2120265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43244" y="4525356"/>
            <a:ext cx="4187780" cy="406660"/>
            <a:chOff x="0" y="0"/>
            <a:chExt cx="5204872" cy="50542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04873" cy="505425"/>
            </a:xfrm>
            <a:custGeom>
              <a:avLst/>
              <a:gdLst/>
              <a:ahLst/>
              <a:cxnLst/>
              <a:rect r="r" b="b" t="t" l="l"/>
              <a:pathLst>
                <a:path h="505425" w="5204873">
                  <a:moveTo>
                    <a:pt x="0" y="0"/>
                  </a:moveTo>
                  <a:lnTo>
                    <a:pt x="5204873" y="0"/>
                  </a:lnTo>
                  <a:lnTo>
                    <a:pt x="5204873" y="505425"/>
                  </a:lnTo>
                  <a:lnTo>
                    <a:pt x="0" y="5054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59" r="-9779" b="-1655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204872" cy="5530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4CAF50"/>
                  </a:solidFill>
                  <a:latin typeface="Literata"/>
                  <a:ea typeface="Literata"/>
                  <a:cs typeface="Literata"/>
                  <a:sym typeface="Literata"/>
                </a:rPr>
                <a:t>MostrarExito(string mensaje)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43244" y="4840142"/>
            <a:ext cx="7328615" cy="82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Console.ForegroundColor = </a:t>
            </a:r>
            <a:r>
              <a:rPr lang="en-US" sz="1903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ConsoleColor</a:t>
            </a: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.Green;</a:t>
            </a:r>
          </a:p>
          <a:p>
            <a:pPr algn="l">
              <a:lnSpc>
                <a:spcPts val="3426"/>
              </a:lnSpc>
            </a:pP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Console.WriteLine(mensaje); Console.ResetColor();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162838" y="4395104"/>
            <a:ext cx="7900945" cy="1854259"/>
            <a:chOff x="0" y="0"/>
            <a:chExt cx="9819858" cy="23046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819934" cy="2304669"/>
            </a:xfrm>
            <a:custGeom>
              <a:avLst/>
              <a:gdLst/>
              <a:ahLst/>
              <a:cxnLst/>
              <a:rect r="r" b="b" t="t" l="l"/>
              <a:pathLst>
                <a:path h="2304669" w="9819934">
                  <a:moveTo>
                    <a:pt x="0" y="184404"/>
                  </a:moveTo>
                  <a:cubicBezTo>
                    <a:pt x="0" y="82550"/>
                    <a:pt x="75196" y="0"/>
                    <a:pt x="167977" y="0"/>
                  </a:cubicBezTo>
                  <a:lnTo>
                    <a:pt x="9651950" y="0"/>
                  </a:lnTo>
                  <a:cubicBezTo>
                    <a:pt x="9744731" y="0"/>
                    <a:pt x="9819934" y="82550"/>
                    <a:pt x="9819934" y="184404"/>
                  </a:cubicBezTo>
                  <a:lnTo>
                    <a:pt x="9819934" y="2120265"/>
                  </a:lnTo>
                  <a:cubicBezTo>
                    <a:pt x="9819934" y="2222119"/>
                    <a:pt x="9744731" y="2304669"/>
                    <a:pt x="9651950" y="2304669"/>
                  </a:cubicBezTo>
                  <a:lnTo>
                    <a:pt x="167977" y="2304669"/>
                  </a:lnTo>
                  <a:cubicBezTo>
                    <a:pt x="75196" y="2304542"/>
                    <a:pt x="0" y="2222119"/>
                    <a:pt x="0" y="2120265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449003" y="4525356"/>
            <a:ext cx="4885740" cy="406660"/>
            <a:chOff x="0" y="0"/>
            <a:chExt cx="6072346" cy="5054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72352" cy="505425"/>
            </a:xfrm>
            <a:custGeom>
              <a:avLst/>
              <a:gdLst/>
              <a:ahLst/>
              <a:cxnLst/>
              <a:rect r="r" b="b" t="t" l="l"/>
              <a:pathLst>
                <a:path h="505425" w="6072352">
                  <a:moveTo>
                    <a:pt x="0" y="0"/>
                  </a:moveTo>
                  <a:lnTo>
                    <a:pt x="6072352" y="0"/>
                  </a:lnTo>
                  <a:lnTo>
                    <a:pt x="6072352" y="505425"/>
                  </a:lnTo>
                  <a:lnTo>
                    <a:pt x="0" y="5054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772" r="-9779" b="-20221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072346" cy="5530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FFC107"/>
                  </a:solidFill>
                  <a:latin typeface="Literata"/>
                  <a:ea typeface="Literata"/>
                  <a:cs typeface="Literata"/>
                  <a:sym typeface="Literata"/>
                </a:rPr>
                <a:t>MostrarAdvertencia(string mensaje)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449003" y="4840142"/>
            <a:ext cx="7328615" cy="82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Console.ForegroundColor = </a:t>
            </a:r>
            <a:r>
              <a:rPr lang="en-US" sz="1903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ConsoleColor</a:t>
            </a: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.Yellow;</a:t>
            </a:r>
          </a:p>
          <a:p>
            <a:pPr algn="l">
              <a:lnSpc>
                <a:spcPts val="3426"/>
              </a:lnSpc>
            </a:pPr>
            <a:r>
              <a:rPr lang="en-US" sz="190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Console.WriteLine(mensaje); Console.ResetColor();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7079" y="6778361"/>
            <a:ext cx="16570262" cy="2015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1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Lógica de estas funciones:</a:t>
            </a:r>
          </a:p>
          <a:p>
            <a:pPr algn="l">
              <a:lnSpc>
                <a:spcPts val="4079"/>
              </a:lnSpc>
            </a:pP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Usan </a:t>
            </a:r>
            <a:r>
              <a:rPr lang="en-US" sz="21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Console.ForegroundColor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para cambiar colores semánticos: </a:t>
            </a:r>
            <a:r>
              <a:rPr lang="en-US" sz="2124">
                <a:solidFill>
                  <a:srgbClr val="F44336"/>
                </a:solidFill>
                <a:latin typeface="Quattrocento"/>
                <a:ea typeface="Quattrocento"/>
                <a:cs typeface="Quattrocento"/>
                <a:sym typeface="Quattrocento"/>
              </a:rPr>
              <a:t>Rojo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= Error | </a:t>
            </a:r>
            <a:r>
              <a:rPr lang="en-US" sz="2124">
                <a:solidFill>
                  <a:srgbClr val="4CAF50"/>
                </a:solidFill>
                <a:latin typeface="Quattrocento"/>
                <a:ea typeface="Quattrocento"/>
                <a:cs typeface="Quattrocento"/>
                <a:sym typeface="Quattrocento"/>
              </a:rPr>
              <a:t>Verde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= Éxito | </a:t>
            </a:r>
            <a:r>
              <a:rPr lang="en-US" sz="2124">
                <a:solidFill>
                  <a:srgbClr val="FFC107"/>
                </a:solidFill>
                <a:latin typeface="Quattrocento"/>
                <a:ea typeface="Quattrocento"/>
                <a:cs typeface="Quattrocento"/>
                <a:sym typeface="Quattrocento"/>
              </a:rPr>
              <a:t>Amarillo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= Advertencia</a:t>
            </a:r>
          </a:p>
          <a:p>
            <a:pPr algn="l">
              <a:lnSpc>
                <a:spcPts val="4079"/>
              </a:lnSpc>
            </a:pPr>
            <a:r>
              <a:rPr lang="en-US" sz="21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MostrarCarga: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Usa un </a:t>
            </a:r>
            <a:r>
              <a:rPr lang="en-US" sz="21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for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con </a:t>
            </a:r>
            <a:r>
              <a:rPr lang="en-US" sz="21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Thread.Sleep(350)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para pausar e imprimir puntos.</a:t>
            </a:r>
          </a:p>
          <a:p>
            <a:pPr algn="l">
              <a:lnSpc>
                <a:spcPts val="4079"/>
              </a:lnSpc>
            </a:pPr>
            <a:r>
              <a:rPr lang="en-US" sz="21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Manejo de excepciones: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Todas usan </a:t>
            </a:r>
            <a:r>
              <a:rPr lang="en-US" sz="21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try-catch</a:t>
            </a:r>
            <a:r>
              <a:rPr lang="en-US" sz="21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para capturar errores sin cerrar el programa.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02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FUNCIONES DE UTILIDAD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07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785660"/>
            <a:ext cx="11427771" cy="782626"/>
            <a:chOff x="0" y="0"/>
            <a:chExt cx="15237028" cy="1043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37023" cy="1043497"/>
            </a:xfrm>
            <a:custGeom>
              <a:avLst/>
              <a:gdLst/>
              <a:ahLst/>
              <a:cxnLst/>
              <a:rect r="r" b="b" t="t" l="l"/>
              <a:pathLst>
                <a:path h="1043497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1043497"/>
                  </a:lnTo>
                  <a:lnTo>
                    <a:pt x="0" y="1043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88" r="0" b="-22284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5237028" cy="1167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70"/>
                </a:lnSpc>
              </a:pPr>
              <a:r>
                <a:rPr lang="en-US" sz="36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Funciones de Visualización (II) y Entrada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079" y="1655695"/>
            <a:ext cx="16570262" cy="28565"/>
            <a:chOff x="0" y="0"/>
            <a:chExt cx="2209368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9944" y="2131935"/>
            <a:ext cx="7999735" cy="2788203"/>
            <a:chOff x="0" y="0"/>
            <a:chExt cx="9890994" cy="34473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91071" cy="3447415"/>
            </a:xfrm>
            <a:custGeom>
              <a:avLst/>
              <a:gdLst/>
              <a:ahLst/>
              <a:cxnLst/>
              <a:rect r="r" b="b" t="t" l="l"/>
              <a:pathLst>
                <a:path h="3447415" w="9891071">
                  <a:moveTo>
                    <a:pt x="0" y="275844"/>
                  </a:moveTo>
                  <a:cubicBezTo>
                    <a:pt x="0" y="123444"/>
                    <a:pt x="113262" y="0"/>
                    <a:pt x="253091" y="0"/>
                  </a:cubicBezTo>
                  <a:lnTo>
                    <a:pt x="9637973" y="0"/>
                  </a:lnTo>
                  <a:cubicBezTo>
                    <a:pt x="9777686" y="0"/>
                    <a:pt x="9891071" y="123444"/>
                    <a:pt x="9891071" y="275844"/>
                  </a:cubicBezTo>
                  <a:lnTo>
                    <a:pt x="9891071" y="3171571"/>
                  </a:lnTo>
                  <a:cubicBezTo>
                    <a:pt x="9891071" y="3323844"/>
                    <a:pt x="9777802" y="3447415"/>
                    <a:pt x="9637973" y="3447415"/>
                  </a:cubicBezTo>
                  <a:lnTo>
                    <a:pt x="253091" y="3447415"/>
                  </a:lnTo>
                  <a:cubicBezTo>
                    <a:pt x="113262" y="3447415"/>
                    <a:pt x="0" y="3323844"/>
                    <a:pt x="0" y="3171571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42781" y="2281925"/>
            <a:ext cx="4999644" cy="356908"/>
            <a:chOff x="0" y="0"/>
            <a:chExt cx="6666192" cy="4758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66198" cy="475877"/>
            </a:xfrm>
            <a:custGeom>
              <a:avLst/>
              <a:gdLst/>
              <a:ahLst/>
              <a:cxnLst/>
              <a:rect r="r" b="b" t="t" l="l"/>
              <a:pathLst>
                <a:path h="475877" w="6666198">
                  <a:moveTo>
                    <a:pt x="0" y="0"/>
                  </a:moveTo>
                  <a:lnTo>
                    <a:pt x="6666198" y="0"/>
                  </a:lnTo>
                  <a:lnTo>
                    <a:pt x="6666198" y="475877"/>
                  </a:lnTo>
                  <a:lnTo>
                    <a:pt x="0" y="4758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922" r="0" b="-22097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666192" cy="513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1"/>
                </a:lnSpc>
              </a:pPr>
              <a:r>
                <a:rPr lang="en-US" sz="16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MostrarEncabezado(titulo, instrucciones)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39688" y="2641513"/>
            <a:ext cx="7420249" cy="212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191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Console.Clear();</a:t>
            </a:r>
          </a:p>
          <a:p>
            <a:pPr algn="l">
              <a:lnSpc>
                <a:spcPts val="3444"/>
              </a:lnSpc>
            </a:pPr>
            <a:r>
              <a:rPr lang="en-US" sz="191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Console.ForegroundColor = </a:t>
            </a:r>
            <a:r>
              <a:rPr lang="en-US" sz="1913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ConsoleColor</a:t>
            </a:r>
            <a:r>
              <a:rPr lang="en-US" sz="191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.Cyan;</a:t>
            </a:r>
          </a:p>
          <a:p>
            <a:pPr algn="l">
              <a:lnSpc>
                <a:spcPts val="3444"/>
              </a:lnSpc>
            </a:pPr>
            <a:r>
              <a:rPr lang="en-US" sz="191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Console.WriteLine(</a:t>
            </a:r>
            <a:r>
              <a:rPr lang="en-US" sz="1913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$"========== {titulo} =========="</a:t>
            </a:r>
            <a:r>
              <a:rPr lang="en-US" sz="191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444"/>
              </a:lnSpc>
            </a:pPr>
            <a:r>
              <a:rPr lang="en-US" sz="191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Console.ResetColor();</a:t>
            </a:r>
          </a:p>
          <a:p>
            <a:pPr algn="l">
              <a:lnSpc>
                <a:spcPts val="3444"/>
              </a:lnSpc>
            </a:pPr>
            <a:r>
              <a:rPr lang="en-US" sz="1913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91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(instrucciones != </a:t>
            </a:r>
            <a:r>
              <a:rPr lang="en-US" sz="1913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""</a:t>
            </a:r>
            <a:r>
              <a:rPr lang="en-US" sz="191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 Console.WriteLine(instrucciones);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59555" y="2131935"/>
            <a:ext cx="7999735" cy="2788203"/>
            <a:chOff x="0" y="0"/>
            <a:chExt cx="9890994" cy="34473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91071" cy="3447415"/>
            </a:xfrm>
            <a:custGeom>
              <a:avLst/>
              <a:gdLst/>
              <a:ahLst/>
              <a:cxnLst/>
              <a:rect r="r" b="b" t="t" l="l"/>
              <a:pathLst>
                <a:path h="3447415" w="9891071">
                  <a:moveTo>
                    <a:pt x="0" y="275844"/>
                  </a:moveTo>
                  <a:cubicBezTo>
                    <a:pt x="0" y="123444"/>
                    <a:pt x="113262" y="0"/>
                    <a:pt x="253091" y="0"/>
                  </a:cubicBezTo>
                  <a:lnTo>
                    <a:pt x="9637973" y="0"/>
                  </a:lnTo>
                  <a:cubicBezTo>
                    <a:pt x="9777686" y="0"/>
                    <a:pt x="9891071" y="123444"/>
                    <a:pt x="9891071" y="275844"/>
                  </a:cubicBezTo>
                  <a:lnTo>
                    <a:pt x="9891071" y="3171571"/>
                  </a:lnTo>
                  <a:cubicBezTo>
                    <a:pt x="9891071" y="3323844"/>
                    <a:pt x="9777802" y="3447415"/>
                    <a:pt x="9637973" y="3447415"/>
                  </a:cubicBezTo>
                  <a:lnTo>
                    <a:pt x="253091" y="3447415"/>
                  </a:lnTo>
                  <a:cubicBezTo>
                    <a:pt x="113262" y="3447415"/>
                    <a:pt x="0" y="3323844"/>
                    <a:pt x="0" y="3171571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642177" y="2281925"/>
            <a:ext cx="4285412" cy="356908"/>
            <a:chOff x="0" y="0"/>
            <a:chExt cx="5713882" cy="4758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13884" cy="475877"/>
            </a:xfrm>
            <a:custGeom>
              <a:avLst/>
              <a:gdLst/>
              <a:ahLst/>
              <a:cxnLst/>
              <a:rect r="r" b="b" t="t" l="l"/>
              <a:pathLst>
                <a:path h="475877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475877"/>
                  </a:lnTo>
                  <a:lnTo>
                    <a:pt x="0" y="4758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929" r="0" b="-1819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713882" cy="513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1"/>
                </a:lnSpc>
              </a:pPr>
              <a:r>
                <a:rPr lang="en-US" sz="16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PausarYContinuar()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549299" y="2641513"/>
            <a:ext cx="7420249" cy="83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191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Console.WriteLine(</a:t>
            </a:r>
            <a:r>
              <a:rPr lang="en-US" sz="1913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"Presiona Enter..."</a:t>
            </a:r>
            <a:r>
              <a:rPr lang="en-US" sz="191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444"/>
              </a:lnSpc>
            </a:pPr>
            <a:r>
              <a:rPr lang="en-US" sz="1913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Console.ReadLine(); Console.Clear();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49299" y="3931023"/>
            <a:ext cx="7420249" cy="69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13">
                <a:solidFill>
                  <a:srgbClr val="B4B4B4"/>
                </a:solidFill>
                <a:latin typeface="Quattrocento"/>
                <a:ea typeface="Quattrocento"/>
                <a:cs typeface="Quattrocento"/>
                <a:sym typeface="Quattrocento"/>
              </a:rPr>
              <a:t>Espera que el usuario presione Enter antes de continuar. Útil para que el usuario lea mensajes.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49944" y="5212818"/>
            <a:ext cx="16409356" cy="2942247"/>
            <a:chOff x="0" y="0"/>
            <a:chExt cx="20288777" cy="36378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288777" cy="3637915"/>
            </a:xfrm>
            <a:custGeom>
              <a:avLst/>
              <a:gdLst/>
              <a:ahLst/>
              <a:cxnLst/>
              <a:rect r="r" b="b" t="t" l="l"/>
              <a:pathLst>
                <a:path h="3637915" w="20288777">
                  <a:moveTo>
                    <a:pt x="0" y="291084"/>
                  </a:moveTo>
                  <a:cubicBezTo>
                    <a:pt x="0" y="130302"/>
                    <a:pt x="119554" y="0"/>
                    <a:pt x="267074" y="0"/>
                  </a:cubicBezTo>
                  <a:lnTo>
                    <a:pt x="20021702" y="0"/>
                  </a:lnTo>
                  <a:cubicBezTo>
                    <a:pt x="20169223" y="0"/>
                    <a:pt x="20288777" y="130302"/>
                    <a:pt x="20288777" y="291084"/>
                  </a:cubicBezTo>
                  <a:lnTo>
                    <a:pt x="20288777" y="3346831"/>
                  </a:lnTo>
                  <a:cubicBezTo>
                    <a:pt x="20288777" y="3507613"/>
                    <a:pt x="20169223" y="3637915"/>
                    <a:pt x="20021702" y="3637915"/>
                  </a:cubicBezTo>
                  <a:lnTo>
                    <a:pt x="267074" y="3637915"/>
                  </a:lnTo>
                  <a:cubicBezTo>
                    <a:pt x="119554" y="3637788"/>
                    <a:pt x="0" y="3507486"/>
                    <a:pt x="0" y="3346831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39688" y="5374565"/>
            <a:ext cx="4946829" cy="408783"/>
            <a:chOff x="0" y="0"/>
            <a:chExt cx="6116335" cy="5054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16341" cy="505425"/>
            </a:xfrm>
            <a:custGeom>
              <a:avLst/>
              <a:gdLst/>
              <a:ahLst/>
              <a:cxnLst/>
              <a:rect r="r" b="b" t="t" l="l"/>
              <a:pathLst>
                <a:path h="505425" w="6116341">
                  <a:moveTo>
                    <a:pt x="0" y="0"/>
                  </a:moveTo>
                  <a:lnTo>
                    <a:pt x="6116341" y="0"/>
                  </a:lnTo>
                  <a:lnTo>
                    <a:pt x="6116341" y="505425"/>
                  </a:lnTo>
                  <a:lnTo>
                    <a:pt x="0" y="5054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772" r="-8989" b="-20221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116335" cy="5530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ObtenerEntrada(string prompt)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9688" y="5731932"/>
            <a:ext cx="9893668" cy="237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1792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while</a:t>
            </a: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</a:t>
            </a:r>
            <a:r>
              <a:rPr lang="en-US" sz="1792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true</a:t>
            </a: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</a:t>
            </a:r>
          </a:p>
          <a:p>
            <a:pPr algn="l">
              <a:lnSpc>
                <a:spcPts val="3226"/>
              </a:lnSpc>
            </a:pP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</a:t>
            </a:r>
          </a:p>
          <a:p>
            <a:pPr algn="l">
              <a:lnSpc>
                <a:spcPts val="3226"/>
              </a:lnSpc>
            </a:pP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Console.Write(prompt);</a:t>
            </a:r>
          </a:p>
          <a:p>
            <a:pPr algn="l">
              <a:lnSpc>
                <a:spcPts val="3226"/>
              </a:lnSpc>
            </a:pP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92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string</a:t>
            </a: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e = Console.ReadLine() ?? </a:t>
            </a:r>
            <a:r>
              <a:rPr lang="en-US" sz="1792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""</a:t>
            </a: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226"/>
              </a:lnSpc>
            </a:pP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92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(e != </a:t>
            </a:r>
            <a:r>
              <a:rPr lang="en-US" sz="1792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""</a:t>
            </a: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 </a:t>
            </a:r>
            <a:r>
              <a:rPr lang="en-US" sz="1792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return</a:t>
            </a: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e;</a:t>
            </a:r>
          </a:p>
          <a:p>
            <a:pPr algn="l">
              <a:lnSpc>
                <a:spcPts val="3226"/>
              </a:lnSpc>
            </a:pP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MostrarError(</a:t>
            </a:r>
            <a:r>
              <a:rPr lang="en-US" sz="1792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"Vacía"</a:t>
            </a:r>
            <a:r>
              <a:rPr lang="en-US" sz="179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 }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16031" y="5212640"/>
            <a:ext cx="5653526" cy="258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215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Lógica:</a:t>
            </a:r>
          </a:p>
          <a:p>
            <a:pPr algn="l">
              <a:lnSpc>
                <a:spcPts val="4140"/>
              </a:lnSpc>
            </a:pPr>
            <a:r>
              <a:rPr lang="en-US" sz="215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Bucle </a:t>
            </a:r>
            <a:r>
              <a:rPr lang="en-US" sz="215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while(true)</a:t>
            </a:r>
            <a:r>
              <a:rPr lang="en-US" sz="215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que pide entrada al usuario.</a:t>
            </a:r>
          </a:p>
          <a:p>
            <a:pPr algn="l">
              <a:lnSpc>
                <a:spcPts val="4140"/>
              </a:lnSpc>
            </a:pPr>
            <a:r>
              <a:rPr lang="en-US" sz="215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Usa </a:t>
            </a:r>
            <a:r>
              <a:rPr lang="en-US" sz="215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?? ""</a:t>
            </a:r>
            <a:r>
              <a:rPr lang="en-US" sz="215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para evitar valores nulos.</a:t>
            </a:r>
          </a:p>
          <a:p>
            <a:pPr algn="l">
              <a:lnSpc>
                <a:spcPts val="4140"/>
              </a:lnSpc>
            </a:pPr>
            <a:r>
              <a:rPr lang="en-US" sz="215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Si está vacía, muestra error y reintenta.</a:t>
            </a:r>
          </a:p>
          <a:p>
            <a:pPr algn="l">
              <a:lnSpc>
                <a:spcPts val="4140"/>
              </a:lnSpc>
            </a:pPr>
            <a:r>
              <a:rPr lang="en-US" sz="215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Se usa en </a:t>
            </a:r>
            <a:r>
              <a:rPr lang="en-US" sz="215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todo</a:t>
            </a:r>
            <a:r>
              <a:rPr lang="en-US" sz="215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el programa.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2571245"/>
            <a:ext cx="5109696" cy="1873558"/>
            <a:chOff x="0" y="0"/>
            <a:chExt cx="5713882" cy="2095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884" cy="2095091"/>
            </a:xfrm>
            <a:custGeom>
              <a:avLst/>
              <a:gdLst/>
              <a:ahLst/>
              <a:cxnLst/>
              <a:rect r="r" b="b" t="t" l="l"/>
              <a:pathLst>
                <a:path h="2095091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2095091"/>
                  </a:lnTo>
                  <a:lnTo>
                    <a:pt x="0" y="2095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38125"/>
              <a:ext cx="5713882" cy="233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48"/>
                </a:lnSpc>
              </a:pPr>
              <a:r>
                <a:rPr lang="en-US" sz="10797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4785448"/>
            <a:ext cx="2043881" cy="68131"/>
            <a:chOff x="0" y="0"/>
            <a:chExt cx="2285556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5492" cy="76200"/>
            </a:xfrm>
            <a:custGeom>
              <a:avLst/>
              <a:gdLst/>
              <a:ahLst/>
              <a:cxnLst/>
              <a:rect r="r" b="b" t="t" l="l"/>
              <a:pathLst>
                <a:path h="76200" w="2285492">
                  <a:moveTo>
                    <a:pt x="0" y="0"/>
                  </a:moveTo>
                  <a:lnTo>
                    <a:pt x="2285492" y="0"/>
                  </a:lnTo>
                  <a:lnTo>
                    <a:pt x="228549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5296416"/>
            <a:ext cx="13625864" cy="851612"/>
            <a:chOff x="0" y="0"/>
            <a:chExt cx="15237028" cy="9523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3" cy="952314"/>
            </a:xfrm>
            <a:custGeom>
              <a:avLst/>
              <a:gdLst/>
              <a:ahLst/>
              <a:cxnLst/>
              <a:rect r="r" b="b" t="t" l="l"/>
              <a:pathLst>
                <a:path h="95231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5237028" cy="1047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0"/>
                </a:lnSpc>
              </a:pPr>
              <a:r>
                <a:rPr lang="en-US" sz="404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Flujo Principal del Programa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6318362"/>
            <a:ext cx="11922628" cy="510967"/>
            <a:chOff x="0" y="0"/>
            <a:chExt cx="13332396" cy="571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571388"/>
            </a:xfrm>
            <a:custGeom>
              <a:avLst/>
              <a:gdLst/>
              <a:ahLst/>
              <a:cxnLst/>
              <a:rect r="r" b="b" t="t" l="l"/>
              <a:pathLst>
                <a:path h="571388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1" r="0" b="-4046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332396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>
                  <a:solidFill>
                    <a:srgbClr val="B4B4B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Desde el inicio hasta el menú principal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03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FLUJO PRINCIPAL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09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29" y="704646"/>
            <a:ext cx="10210439" cy="851088"/>
            <a:chOff x="0" y="0"/>
            <a:chExt cx="12188693" cy="10159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88692" cy="1015980"/>
            </a:xfrm>
            <a:custGeom>
              <a:avLst/>
              <a:gdLst/>
              <a:ahLst/>
              <a:cxnLst/>
              <a:rect r="r" b="b" t="t" l="l"/>
              <a:pathLst>
                <a:path h="1015980" w="12188692">
                  <a:moveTo>
                    <a:pt x="0" y="0"/>
                  </a:moveTo>
                  <a:lnTo>
                    <a:pt x="12188692" y="0"/>
                  </a:lnTo>
                  <a:lnTo>
                    <a:pt x="12188692" y="1015980"/>
                  </a:lnTo>
                  <a:lnTo>
                    <a:pt x="0" y="10159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327" r="-9383" b="-1950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2188693" cy="1139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14"/>
                </a:lnSpc>
              </a:pPr>
              <a:r>
                <a:rPr lang="en-US" sz="35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Función Main() y Bucle Principal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29" y="1545017"/>
            <a:ext cx="16920154" cy="31906"/>
            <a:chOff x="0" y="0"/>
            <a:chExt cx="2019840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98403" cy="38100"/>
            </a:xfrm>
            <a:custGeom>
              <a:avLst/>
              <a:gdLst/>
              <a:ahLst/>
              <a:cxnLst/>
              <a:rect r="r" b="b" t="t" l="l"/>
              <a:pathLst>
                <a:path h="38100" w="20198403">
                  <a:moveTo>
                    <a:pt x="0" y="0"/>
                  </a:moveTo>
                  <a:lnTo>
                    <a:pt x="20198403" y="0"/>
                  </a:lnTo>
                  <a:lnTo>
                    <a:pt x="2019840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9939" y="2289340"/>
            <a:ext cx="8182941" cy="4004706"/>
            <a:chOff x="0" y="0"/>
            <a:chExt cx="9768370" cy="47806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68300" cy="4780534"/>
            </a:xfrm>
            <a:custGeom>
              <a:avLst/>
              <a:gdLst/>
              <a:ahLst/>
              <a:cxnLst/>
              <a:rect r="r" b="b" t="t" l="l"/>
              <a:pathLst>
                <a:path h="4780534" w="9768300">
                  <a:moveTo>
                    <a:pt x="0" y="382397"/>
                  </a:moveTo>
                  <a:cubicBezTo>
                    <a:pt x="0" y="171196"/>
                    <a:pt x="156510" y="0"/>
                    <a:pt x="349594" y="0"/>
                  </a:cubicBezTo>
                  <a:lnTo>
                    <a:pt x="9418706" y="0"/>
                  </a:lnTo>
                  <a:cubicBezTo>
                    <a:pt x="9611790" y="0"/>
                    <a:pt x="9768300" y="171196"/>
                    <a:pt x="9768300" y="382397"/>
                  </a:cubicBezTo>
                  <a:lnTo>
                    <a:pt x="9768300" y="4398137"/>
                  </a:lnTo>
                  <a:cubicBezTo>
                    <a:pt x="9768300" y="4609338"/>
                    <a:pt x="9611790" y="4780534"/>
                    <a:pt x="9418706" y="4780534"/>
                  </a:cubicBezTo>
                  <a:lnTo>
                    <a:pt x="349594" y="4780534"/>
                  </a:lnTo>
                  <a:cubicBezTo>
                    <a:pt x="156510" y="4780661"/>
                    <a:pt x="0" y="4609338"/>
                    <a:pt x="0" y="4398137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48960" y="2456868"/>
            <a:ext cx="2917264" cy="382921"/>
            <a:chOff x="0" y="0"/>
            <a:chExt cx="3482479" cy="457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82484" cy="457110"/>
            </a:xfrm>
            <a:custGeom>
              <a:avLst/>
              <a:gdLst/>
              <a:ahLst/>
              <a:cxnLst/>
              <a:rect r="r" b="b" t="t" l="l"/>
              <a:pathLst>
                <a:path h="457110" w="3482484">
                  <a:moveTo>
                    <a:pt x="0" y="0"/>
                  </a:moveTo>
                  <a:lnTo>
                    <a:pt x="3482484" y="0"/>
                  </a:lnTo>
                  <a:lnTo>
                    <a:pt x="3482484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-9383" b="-1123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482479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MAIN()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8960" y="2840267"/>
            <a:ext cx="7584901" cy="311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5"/>
              </a:lnSpc>
            </a:pPr>
            <a:r>
              <a:rPr lang="en-US" sz="175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void</a:t>
            </a: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  <a:r>
              <a:rPr lang="en-US" sz="1758">
                <a:solidFill>
                  <a:srgbClr val="DCDCAA"/>
                </a:solidFill>
                <a:latin typeface="Literata"/>
                <a:ea typeface="Literata"/>
                <a:cs typeface="Literata"/>
                <a:sym typeface="Literata"/>
              </a:rPr>
              <a:t>Main</a:t>
            </a: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()</a:t>
            </a:r>
          </a:p>
          <a:p>
            <a:pPr algn="l">
              <a:lnSpc>
                <a:spcPts val="3165"/>
              </a:lnSpc>
            </a:pP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</a:t>
            </a:r>
          </a:p>
          <a:p>
            <a:pPr algn="l">
              <a:lnSpc>
                <a:spcPts val="3165"/>
              </a:lnSpc>
            </a:pP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5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try</a:t>
            </a: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{</a:t>
            </a:r>
          </a:p>
          <a:p>
            <a:pPr algn="l">
              <a:lnSpc>
                <a:spcPts val="3165"/>
              </a:lnSpc>
            </a:pP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75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while</a:t>
            </a: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</a:t>
            </a:r>
            <a:r>
              <a:rPr lang="en-US" sz="1758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true</a:t>
            </a: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 {</a:t>
            </a:r>
          </a:p>
          <a:p>
            <a:pPr algn="l">
              <a:lnSpc>
                <a:spcPts val="3165"/>
              </a:lnSpc>
            </a:pP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  inicio();</a:t>
            </a:r>
          </a:p>
          <a:p>
            <a:pPr algn="l">
              <a:lnSpc>
                <a:spcPts val="3165"/>
              </a:lnSpc>
            </a:pP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  </a:t>
            </a:r>
            <a:r>
              <a:rPr lang="en-US" sz="175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(sesionIniciada) menuPrincipal(); }</a:t>
            </a:r>
          </a:p>
          <a:p>
            <a:pPr algn="l">
              <a:lnSpc>
                <a:spcPts val="3165"/>
              </a:lnSpc>
            </a:pP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} </a:t>
            </a:r>
            <a:r>
              <a:rPr lang="en-US" sz="175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catch</a:t>
            </a: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{ ... }</a:t>
            </a:r>
          </a:p>
          <a:p>
            <a:pPr algn="l">
              <a:lnSpc>
                <a:spcPts val="3165"/>
              </a:lnSpc>
            </a:pPr>
            <a:r>
              <a:rPr lang="en-US" sz="175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}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81963" y="2297320"/>
            <a:ext cx="5834538" cy="446741"/>
            <a:chOff x="0" y="0"/>
            <a:chExt cx="6964969" cy="5332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64967" cy="533293"/>
            </a:xfrm>
            <a:custGeom>
              <a:avLst/>
              <a:gdLst/>
              <a:ahLst/>
              <a:cxnLst/>
              <a:rect r="r" b="b" t="t" l="l"/>
              <a:pathLst>
                <a:path h="533293" w="6964967">
                  <a:moveTo>
                    <a:pt x="0" y="0"/>
                  </a:moveTo>
                  <a:lnTo>
                    <a:pt x="6964967" y="0"/>
                  </a:lnTo>
                  <a:lnTo>
                    <a:pt x="6964967" y="533293"/>
                  </a:lnTo>
                  <a:lnTo>
                    <a:pt x="0" y="533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8" r="-9383" b="-2283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64969" cy="57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 spc="22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FLUJO DE EJECUCIÓN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74668" y="2927538"/>
            <a:ext cx="8110004" cy="813706"/>
            <a:chOff x="0" y="0"/>
            <a:chExt cx="9681303" cy="971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81340" cy="971423"/>
            </a:xfrm>
            <a:custGeom>
              <a:avLst/>
              <a:gdLst/>
              <a:ahLst/>
              <a:cxnLst/>
              <a:rect r="r" b="b" t="t" l="l"/>
              <a:pathLst>
                <a:path h="971423" w="9681340">
                  <a:moveTo>
                    <a:pt x="0" y="77724"/>
                  </a:moveTo>
                  <a:cubicBezTo>
                    <a:pt x="0" y="34798"/>
                    <a:pt x="31813" y="0"/>
                    <a:pt x="71057" y="0"/>
                  </a:cubicBezTo>
                  <a:lnTo>
                    <a:pt x="9610281" y="0"/>
                  </a:lnTo>
                  <a:cubicBezTo>
                    <a:pt x="9649524" y="0"/>
                    <a:pt x="9681340" y="34798"/>
                    <a:pt x="9681340" y="77724"/>
                  </a:cubicBezTo>
                  <a:lnTo>
                    <a:pt x="9681340" y="893699"/>
                  </a:lnTo>
                  <a:cubicBezTo>
                    <a:pt x="9681340" y="936625"/>
                    <a:pt x="9649524" y="971423"/>
                    <a:pt x="9610281" y="971423"/>
                  </a:cubicBezTo>
                  <a:lnTo>
                    <a:pt x="71057" y="971423"/>
                  </a:lnTo>
                  <a:cubicBezTo>
                    <a:pt x="31813" y="971423"/>
                    <a:pt x="0" y="936625"/>
                    <a:pt x="0" y="89369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973688" y="2935515"/>
            <a:ext cx="7511964" cy="797751"/>
            <a:chOff x="0" y="0"/>
            <a:chExt cx="8967393" cy="9523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67395" cy="952318"/>
            </a:xfrm>
            <a:custGeom>
              <a:avLst/>
              <a:gdLst/>
              <a:ahLst/>
              <a:cxnLst/>
              <a:rect r="r" b="b" t="t" l="l"/>
              <a:pathLst>
                <a:path h="952318" w="8967395">
                  <a:moveTo>
                    <a:pt x="0" y="0"/>
                  </a:moveTo>
                  <a:lnTo>
                    <a:pt x="8967395" y="0"/>
                  </a:lnTo>
                  <a:lnTo>
                    <a:pt x="8967395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695" r="-9383" b="-15069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967393" cy="999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1"/>
                </a:lnSpc>
              </a:pPr>
              <a:r>
                <a:rPr lang="en-US" sz="17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1.</a:t>
              </a:r>
              <a:r>
                <a:rPr lang="en-US" sz="17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El programa inicia con </a:t>
              </a:r>
              <a:r>
                <a:rPr lang="en-US" sz="17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while(true)</a:t>
              </a:r>
              <a:r>
                <a:rPr lang="en-US" sz="17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infinito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581662" y="3717317"/>
            <a:ext cx="53194" cy="430785"/>
            <a:chOff x="0" y="0"/>
            <a:chExt cx="63500" cy="514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13" cy="514223"/>
            </a:xfrm>
            <a:custGeom>
              <a:avLst/>
              <a:gdLst/>
              <a:ahLst/>
              <a:cxnLst/>
              <a:rect r="r" b="b" t="t" l="l"/>
              <a:pathLst>
                <a:path h="514223" w="63513">
                  <a:moveTo>
                    <a:pt x="0" y="0"/>
                  </a:moveTo>
                  <a:lnTo>
                    <a:pt x="63513" y="51422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008861" t="0" r="-968829" b="-4"/>
              </a:stretch>
            </a:blipFill>
            <a:ln w="28569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674668" y="4124164"/>
            <a:ext cx="8110004" cy="813706"/>
            <a:chOff x="0" y="0"/>
            <a:chExt cx="9681303" cy="971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681340" cy="971423"/>
            </a:xfrm>
            <a:custGeom>
              <a:avLst/>
              <a:gdLst/>
              <a:ahLst/>
              <a:cxnLst/>
              <a:rect r="r" b="b" t="t" l="l"/>
              <a:pathLst>
                <a:path h="971423" w="9681340">
                  <a:moveTo>
                    <a:pt x="0" y="77724"/>
                  </a:moveTo>
                  <a:cubicBezTo>
                    <a:pt x="0" y="34798"/>
                    <a:pt x="31813" y="0"/>
                    <a:pt x="71057" y="0"/>
                  </a:cubicBezTo>
                  <a:lnTo>
                    <a:pt x="9610281" y="0"/>
                  </a:lnTo>
                  <a:cubicBezTo>
                    <a:pt x="9649524" y="0"/>
                    <a:pt x="9681340" y="34798"/>
                    <a:pt x="9681340" y="77724"/>
                  </a:cubicBezTo>
                  <a:lnTo>
                    <a:pt x="9681340" y="893699"/>
                  </a:lnTo>
                  <a:cubicBezTo>
                    <a:pt x="9681340" y="936625"/>
                    <a:pt x="9649524" y="971423"/>
                    <a:pt x="9610281" y="971423"/>
                  </a:cubicBezTo>
                  <a:lnTo>
                    <a:pt x="71057" y="971423"/>
                  </a:lnTo>
                  <a:cubicBezTo>
                    <a:pt x="31813" y="971423"/>
                    <a:pt x="0" y="936625"/>
                    <a:pt x="0" y="89369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973688" y="4132141"/>
            <a:ext cx="7511964" cy="797751"/>
            <a:chOff x="0" y="0"/>
            <a:chExt cx="8967393" cy="9523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967395" cy="952318"/>
            </a:xfrm>
            <a:custGeom>
              <a:avLst/>
              <a:gdLst/>
              <a:ahLst/>
              <a:cxnLst/>
              <a:rect r="r" b="b" t="t" l="l"/>
              <a:pathLst>
                <a:path h="952318" w="8967395">
                  <a:moveTo>
                    <a:pt x="0" y="0"/>
                  </a:moveTo>
                  <a:lnTo>
                    <a:pt x="8967395" y="0"/>
                  </a:lnTo>
                  <a:lnTo>
                    <a:pt x="8967395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695" r="-9383" b="-15069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8967393" cy="999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1"/>
                </a:lnSpc>
              </a:pPr>
              <a:r>
                <a:rPr lang="en-US" sz="17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2.</a:t>
              </a:r>
              <a:r>
                <a:rPr lang="en-US" sz="17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Llama a </a:t>
              </a:r>
              <a:r>
                <a:rPr lang="en-US" sz="17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inicio()</a:t>
              </a:r>
              <a:r>
                <a:rPr lang="en-US" sz="17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→ pantalla de bienvenida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581662" y="4913943"/>
            <a:ext cx="53194" cy="430785"/>
            <a:chOff x="0" y="0"/>
            <a:chExt cx="63500" cy="5142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513" cy="514223"/>
            </a:xfrm>
            <a:custGeom>
              <a:avLst/>
              <a:gdLst/>
              <a:ahLst/>
              <a:cxnLst/>
              <a:rect r="r" b="b" t="t" l="l"/>
              <a:pathLst>
                <a:path h="514223" w="63513">
                  <a:moveTo>
                    <a:pt x="0" y="0"/>
                  </a:moveTo>
                  <a:lnTo>
                    <a:pt x="63513" y="51422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008861" t="0" r="-968829" b="-4"/>
              </a:stretch>
            </a:blipFill>
            <a:ln w="28569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674668" y="5320790"/>
            <a:ext cx="8110004" cy="813706"/>
            <a:chOff x="0" y="0"/>
            <a:chExt cx="9681303" cy="971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81340" cy="971423"/>
            </a:xfrm>
            <a:custGeom>
              <a:avLst/>
              <a:gdLst/>
              <a:ahLst/>
              <a:cxnLst/>
              <a:rect r="r" b="b" t="t" l="l"/>
              <a:pathLst>
                <a:path h="971423" w="9681340">
                  <a:moveTo>
                    <a:pt x="0" y="77724"/>
                  </a:moveTo>
                  <a:cubicBezTo>
                    <a:pt x="0" y="34798"/>
                    <a:pt x="31813" y="0"/>
                    <a:pt x="71057" y="0"/>
                  </a:cubicBezTo>
                  <a:lnTo>
                    <a:pt x="9610281" y="0"/>
                  </a:lnTo>
                  <a:cubicBezTo>
                    <a:pt x="9649524" y="0"/>
                    <a:pt x="9681340" y="34798"/>
                    <a:pt x="9681340" y="77724"/>
                  </a:cubicBezTo>
                  <a:lnTo>
                    <a:pt x="9681340" y="893699"/>
                  </a:lnTo>
                  <a:cubicBezTo>
                    <a:pt x="9681340" y="936625"/>
                    <a:pt x="9649524" y="971423"/>
                    <a:pt x="9610281" y="971423"/>
                  </a:cubicBezTo>
                  <a:lnTo>
                    <a:pt x="71057" y="971423"/>
                  </a:lnTo>
                  <a:cubicBezTo>
                    <a:pt x="31813" y="971423"/>
                    <a:pt x="0" y="936625"/>
                    <a:pt x="0" y="89369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4CAF5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973688" y="5328768"/>
            <a:ext cx="7511964" cy="797751"/>
            <a:chOff x="0" y="0"/>
            <a:chExt cx="8967393" cy="95231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967395" cy="952318"/>
            </a:xfrm>
            <a:custGeom>
              <a:avLst/>
              <a:gdLst/>
              <a:ahLst/>
              <a:cxnLst/>
              <a:rect r="r" b="b" t="t" l="l"/>
              <a:pathLst>
                <a:path h="952318" w="8967395">
                  <a:moveTo>
                    <a:pt x="0" y="0"/>
                  </a:moveTo>
                  <a:lnTo>
                    <a:pt x="8967395" y="0"/>
                  </a:lnTo>
                  <a:lnTo>
                    <a:pt x="8967395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695" r="-9383" b="-15069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967393" cy="999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1"/>
                </a:lnSpc>
              </a:pPr>
              <a:r>
                <a:rPr lang="en-US" sz="1799">
                  <a:solidFill>
                    <a:srgbClr val="4CAF5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3.</a:t>
              </a:r>
              <a:r>
                <a:rPr lang="en-US" sz="17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Si login OK → </a:t>
              </a:r>
              <a:r>
                <a:rPr lang="en-US" sz="1799">
                  <a:solidFill>
                    <a:srgbClr val="4CAF5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menuPrincipal()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857224" y="6283702"/>
            <a:ext cx="16920154" cy="212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1"/>
              </a:lnSpc>
            </a:pPr>
            <a:r>
              <a:rPr lang="en-US" sz="2261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Lógica del flujo:</a:t>
            </a:r>
          </a:p>
          <a:p>
            <a:pPr algn="l">
              <a:lnSpc>
                <a:spcPts val="4341"/>
              </a:lnSpc>
            </a:pP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while(true)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= bucle infinito. Solo termina con </a:t>
            </a: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Environment.Exit(0)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  <a:p>
            <a:pPr algn="l">
              <a:lnSpc>
                <a:spcPts val="4341"/>
              </a:lnSpc>
            </a:pP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sesionIniciada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= bandera: </a:t>
            </a: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true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→ menú principal; </a:t>
            </a: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false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→ bienvenida.</a:t>
            </a:r>
          </a:p>
          <a:p>
            <a:pPr algn="l">
              <a:lnSpc>
                <a:spcPts val="4341"/>
              </a:lnSpc>
            </a:pP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try-catch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captura errores no manejados.</a:t>
            </a:r>
          </a:p>
        </p:txBody>
      </p: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03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FLUJO PRINCIPAL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10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785660"/>
            <a:ext cx="11607233" cy="609382"/>
            <a:chOff x="0" y="0"/>
            <a:chExt cx="15237028" cy="799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37023" cy="799944"/>
            </a:xfrm>
            <a:custGeom>
              <a:avLst/>
              <a:gdLst/>
              <a:ahLst/>
              <a:cxnLst/>
              <a:rect r="r" b="b" t="t" l="l"/>
              <a:pathLst>
                <a:path h="79994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99944"/>
                  </a:lnTo>
                  <a:lnTo>
                    <a:pt x="0" y="799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5237028" cy="9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14"/>
                </a:lnSpc>
              </a:pPr>
              <a:r>
                <a:rPr lang="en-US" sz="35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Función inicio() — Pantalla de Bienvenida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079" y="2003982"/>
            <a:ext cx="16570262" cy="28565"/>
            <a:chOff x="0" y="0"/>
            <a:chExt cx="2209368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7079" y="2650909"/>
            <a:ext cx="8396150" cy="6607391"/>
            <a:chOff x="0" y="0"/>
            <a:chExt cx="10189261" cy="80184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89261" cy="8018526"/>
            </a:xfrm>
            <a:custGeom>
              <a:avLst/>
              <a:gdLst/>
              <a:ahLst/>
              <a:cxnLst/>
              <a:rect r="r" b="b" t="t" l="l"/>
              <a:pathLst>
                <a:path h="8018526" w="10189261">
                  <a:moveTo>
                    <a:pt x="0" y="641477"/>
                  </a:moveTo>
                  <a:cubicBezTo>
                    <a:pt x="0" y="287147"/>
                    <a:pt x="264399" y="0"/>
                    <a:pt x="590660" y="0"/>
                  </a:cubicBezTo>
                  <a:lnTo>
                    <a:pt x="9598601" y="0"/>
                  </a:lnTo>
                  <a:cubicBezTo>
                    <a:pt x="9924862" y="0"/>
                    <a:pt x="10189261" y="287147"/>
                    <a:pt x="10189261" y="641477"/>
                  </a:cubicBezTo>
                  <a:lnTo>
                    <a:pt x="10189261" y="7377049"/>
                  </a:lnTo>
                  <a:cubicBezTo>
                    <a:pt x="10189261" y="7731379"/>
                    <a:pt x="9924862" y="8018526"/>
                    <a:pt x="9598601" y="8018526"/>
                  </a:cubicBezTo>
                  <a:lnTo>
                    <a:pt x="590660" y="8018526"/>
                  </a:lnTo>
                  <a:cubicBezTo>
                    <a:pt x="264399" y="8018526"/>
                    <a:pt x="0" y="7731252"/>
                    <a:pt x="0" y="737704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53328" y="2815702"/>
            <a:ext cx="2890236" cy="376668"/>
            <a:chOff x="0" y="0"/>
            <a:chExt cx="3507485" cy="457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07490" cy="457110"/>
            </a:xfrm>
            <a:custGeom>
              <a:avLst/>
              <a:gdLst/>
              <a:ahLst/>
              <a:cxnLst/>
              <a:rect r="r" b="b" t="t" l="l"/>
              <a:pathLst>
                <a:path h="457110" w="3507490">
                  <a:moveTo>
                    <a:pt x="0" y="0"/>
                  </a:moveTo>
                  <a:lnTo>
                    <a:pt x="3507490" y="0"/>
                  </a:lnTo>
                  <a:lnTo>
                    <a:pt x="3507490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-8603" b="-1123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507485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INICIO()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53328" y="3191285"/>
            <a:ext cx="7803651" cy="577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while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(!sesionIniciada)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MostrarEncabezado(</a:t>
            </a:r>
            <a:r>
              <a:rPr lang="en-US" sz="1730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"BIENVENIDO A PETFIND"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, </a:t>
            </a:r>
            <a:r>
              <a:rPr lang="en-US" sz="1730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""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Console.WriteLine(</a:t>
            </a:r>
            <a:r>
              <a:rPr lang="en-US" sz="1730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"1. Iniciar sesión"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Console.WriteLine(</a:t>
            </a:r>
            <a:r>
              <a:rPr lang="en-US" sz="1730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"2. Registrarse"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Console.WriteLine(</a:t>
            </a:r>
            <a:r>
              <a:rPr lang="en-US" sz="1730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"3. Salir"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30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string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opcion = Console.ReadLine() ?? </a:t>
            </a:r>
            <a:r>
              <a:rPr lang="en-US" sz="1730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""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30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switch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(opcion)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{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730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case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  <a:r>
              <a:rPr lang="en-US" sz="1730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"1"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: IniciarSesion(); </a:t>
            </a:r>
            <a:r>
              <a:rPr lang="en-US" sz="1730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break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730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case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  <a:r>
              <a:rPr lang="en-US" sz="1730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"2"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: Registrarse(); </a:t>
            </a:r>
            <a:r>
              <a:rPr lang="en-US" sz="1730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break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730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case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  <a:r>
              <a:rPr lang="en-US" sz="1730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"3"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: Environment.Exit(0); </a:t>
            </a:r>
            <a:r>
              <a:rPr lang="en-US" sz="1730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break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730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default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: MostrarError(</a:t>
            </a:r>
            <a:r>
              <a:rPr lang="en-US" sz="1730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"Inválida"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 </a:t>
            </a:r>
            <a:r>
              <a:rPr lang="en-US" sz="1730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break</a:t>
            </a: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}</a:t>
            </a:r>
          </a:p>
          <a:p>
            <a:pPr algn="l">
              <a:lnSpc>
                <a:spcPts val="3114"/>
              </a:lnSpc>
            </a:pPr>
            <a:r>
              <a:rPr lang="en-US" sz="1730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}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24047" y="2658759"/>
            <a:ext cx="5780482" cy="439446"/>
            <a:chOff x="0" y="0"/>
            <a:chExt cx="7014982" cy="5332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14980" cy="533293"/>
            </a:xfrm>
            <a:custGeom>
              <a:avLst/>
              <a:gdLst/>
              <a:ahLst/>
              <a:cxnLst/>
              <a:rect r="r" b="b" t="t" l="l"/>
              <a:pathLst>
                <a:path h="533293" w="7014980">
                  <a:moveTo>
                    <a:pt x="0" y="0"/>
                  </a:moveTo>
                  <a:lnTo>
                    <a:pt x="7014980" y="0"/>
                  </a:lnTo>
                  <a:lnTo>
                    <a:pt x="7014980" y="533293"/>
                  </a:lnTo>
                  <a:lnTo>
                    <a:pt x="0" y="533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8" r="-8603" b="-2283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014982" cy="57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 spc="22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EXPLICACIÓN PASO A PASO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824047" y="3093226"/>
            <a:ext cx="7803651" cy="316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22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1. Bucle while:</a:t>
            </a:r>
            <a:r>
              <a:rPr lang="en-US" sz="22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Repite mientras </a:t>
            </a:r>
            <a:r>
              <a:rPr lang="en-US" sz="22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sesionIniciada == false</a:t>
            </a:r>
            <a:r>
              <a:rPr lang="en-US" sz="22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 Solo sale con login correcto.</a:t>
            </a:r>
          </a:p>
          <a:p>
            <a:pPr algn="l">
              <a:lnSpc>
                <a:spcPts val="4270"/>
              </a:lnSpc>
            </a:pPr>
            <a:r>
              <a:rPr lang="en-US" sz="22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2. MostrarEncabezado:</a:t>
            </a:r>
            <a:r>
              <a:rPr lang="en-US" sz="22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Limpia pantalla, título en cyan.</a:t>
            </a:r>
          </a:p>
          <a:p>
            <a:pPr algn="l">
              <a:lnSpc>
                <a:spcPts val="4270"/>
              </a:lnSpc>
            </a:pPr>
            <a:r>
              <a:rPr lang="en-US" sz="22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3. Menú 3 opciones:</a:t>
            </a:r>
            <a:r>
              <a:rPr lang="en-US" sz="22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Impresas con </a:t>
            </a:r>
            <a:r>
              <a:rPr lang="en-US" sz="22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Console.WriteLine</a:t>
            </a:r>
            <a:r>
              <a:rPr lang="en-US" sz="22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  <a:p>
            <a:pPr algn="l">
              <a:lnSpc>
                <a:spcPts val="4270"/>
              </a:lnSpc>
            </a:pPr>
            <a:r>
              <a:rPr lang="en-US" sz="22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4. Switch:</a:t>
            </a:r>
            <a:r>
              <a:rPr lang="en-US" sz="22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2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"1"</a:t>
            </a:r>
            <a:r>
              <a:rPr lang="en-US" sz="22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→Login </a:t>
            </a:r>
            <a:r>
              <a:rPr lang="en-US" sz="22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"2"</a:t>
            </a:r>
            <a:r>
              <a:rPr lang="en-US" sz="22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→Registro </a:t>
            </a:r>
            <a:r>
              <a:rPr lang="en-US" sz="22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"3"</a:t>
            </a:r>
            <a:r>
              <a:rPr lang="en-US" sz="22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→Exit</a:t>
            </a:r>
          </a:p>
          <a:p>
            <a:pPr algn="l">
              <a:lnSpc>
                <a:spcPts val="4270"/>
              </a:lnSpc>
            </a:pPr>
            <a:r>
              <a:rPr lang="en-US" sz="22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5. Al salir:</a:t>
            </a:r>
            <a:r>
              <a:rPr lang="en-US" sz="22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Bienvenida + </a:t>
            </a:r>
            <a:r>
              <a:rPr lang="en-US" sz="2224">
                <a:solidFill>
                  <a:srgbClr val="4CAF50"/>
                </a:solidFill>
                <a:latin typeface="Quattrocento"/>
                <a:ea typeface="Quattrocento"/>
                <a:cs typeface="Quattrocento"/>
                <a:sym typeface="Quattrocento"/>
              </a:rPr>
              <a:t>menuPrincipal()</a:t>
            </a:r>
            <a:r>
              <a:rPr lang="en-US" sz="22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</p:txBody>
      </p:sp>
    </p:spTree>
  </p:cSld>
  <p:clrMapOvr>
    <a:masterClrMapping/>
  </p:clrMapOvr>
  <p:transition spd="fast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03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FLUJO PRINCIPAL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11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785660"/>
            <a:ext cx="10159827" cy="753253"/>
            <a:chOff x="0" y="0"/>
            <a:chExt cx="13332396" cy="9884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988464"/>
            </a:xfrm>
            <a:custGeom>
              <a:avLst/>
              <a:gdLst/>
              <a:ahLst/>
              <a:cxnLst/>
              <a:rect r="r" b="b" t="t" l="l"/>
              <a:pathLst>
                <a:path h="988464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988464"/>
                  </a:lnTo>
                  <a:lnTo>
                    <a:pt x="0" y="988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349" r="0" b="-20327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13332396" cy="1102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58"/>
                </a:lnSpc>
              </a:pPr>
              <a:r>
                <a:rPr lang="en-US" sz="34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Función menuPrincipal() — Menú de Opciones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9944" y="1700838"/>
            <a:ext cx="16570262" cy="28565"/>
            <a:chOff x="0" y="0"/>
            <a:chExt cx="2209368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9944" y="2226850"/>
            <a:ext cx="8215285" cy="6582686"/>
            <a:chOff x="0" y="0"/>
            <a:chExt cx="9531788" cy="76375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31787" cy="7637526"/>
            </a:xfrm>
            <a:custGeom>
              <a:avLst/>
              <a:gdLst/>
              <a:ahLst/>
              <a:cxnLst/>
              <a:rect r="r" b="b" t="t" l="l"/>
              <a:pathLst>
                <a:path h="7637526" w="9531787">
                  <a:moveTo>
                    <a:pt x="0" y="610997"/>
                  </a:moveTo>
                  <a:cubicBezTo>
                    <a:pt x="0" y="273558"/>
                    <a:pt x="235634" y="0"/>
                    <a:pt x="526292" y="0"/>
                  </a:cubicBezTo>
                  <a:lnTo>
                    <a:pt x="9005495" y="0"/>
                  </a:lnTo>
                  <a:cubicBezTo>
                    <a:pt x="9296154" y="0"/>
                    <a:pt x="9531787" y="273558"/>
                    <a:pt x="9531787" y="610997"/>
                  </a:cubicBezTo>
                  <a:lnTo>
                    <a:pt x="9531787" y="7026529"/>
                  </a:lnTo>
                  <a:cubicBezTo>
                    <a:pt x="9531787" y="7363968"/>
                    <a:pt x="9296154" y="7637526"/>
                    <a:pt x="9005495" y="7637526"/>
                  </a:cubicBezTo>
                  <a:lnTo>
                    <a:pt x="526292" y="7637526"/>
                  </a:lnTo>
                  <a:cubicBezTo>
                    <a:pt x="235634" y="7637526"/>
                    <a:pt x="0" y="7363968"/>
                    <a:pt x="0" y="702652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39812" y="2399216"/>
            <a:ext cx="4241969" cy="393976"/>
            <a:chOff x="0" y="0"/>
            <a:chExt cx="4921747" cy="457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21749" cy="457110"/>
            </a:xfrm>
            <a:custGeom>
              <a:avLst/>
              <a:gdLst/>
              <a:ahLst/>
              <a:cxnLst/>
              <a:rect r="r" b="b" t="t" l="l"/>
              <a:pathLst>
                <a:path h="457110" w="4921749">
                  <a:moveTo>
                    <a:pt x="0" y="0"/>
                  </a:moveTo>
                  <a:lnTo>
                    <a:pt x="4921749" y="0"/>
                  </a:lnTo>
                  <a:lnTo>
                    <a:pt x="4921749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-16094" b="-1935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921747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MENUPRINCIPAL()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39812" y="2786908"/>
            <a:ext cx="7635549" cy="523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do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Console.WriteLine(</a:t>
            </a:r>
            <a:r>
              <a:rPr lang="en-US" sz="1809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"1. Registrar mascota"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Console.WriteLine(</a:t>
            </a:r>
            <a:r>
              <a:rPr lang="en-US" sz="1809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"2. Historial Médico"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Console.WriteLine(</a:t>
            </a:r>
            <a:r>
              <a:rPr lang="en-US" sz="1809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"3. Reportar desaparecida"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Console.WriteLine(</a:t>
            </a:r>
            <a:r>
              <a:rPr lang="en-US" sz="1809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"4. Reportes públicos"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Console.WriteLine(</a:t>
            </a:r>
            <a:r>
              <a:rPr lang="en-US" sz="1809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"5. PetPoints"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Console.WriteLine(</a:t>
            </a:r>
            <a:r>
              <a:rPr lang="en-US" sz="1809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"6. Exportar CSV"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Console.WriteLine(</a:t>
            </a:r>
            <a:r>
              <a:rPr lang="en-US" sz="1809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"7. Cerrar Sesión"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80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</a:t>
            </a:r>
            <a:r>
              <a:rPr lang="en-US" sz="180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int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.TryParse(entrada, </a:t>
            </a:r>
            <a:r>
              <a:rPr lang="en-US" sz="180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out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menu))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{ </a:t>
            </a:r>
            <a:r>
              <a:rPr lang="en-US" sz="1809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/* opción válida */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}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80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switch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(menu) { </a:t>
            </a:r>
            <a:r>
              <a:rPr lang="en-US" sz="1809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/* redirige */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}</a:t>
            </a:r>
          </a:p>
          <a:p>
            <a:pPr algn="l">
              <a:lnSpc>
                <a:spcPts val="3257"/>
              </a:lnSpc>
            </a:pP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} </a:t>
            </a:r>
            <a:r>
              <a:rPr lang="en-US" sz="180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while</a:t>
            </a:r>
            <a:r>
              <a:rPr lang="en-US" sz="180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(menu != 7);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23751" y="2235061"/>
            <a:ext cx="5655962" cy="459639"/>
            <a:chOff x="0" y="0"/>
            <a:chExt cx="6562333" cy="5332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62331" cy="533293"/>
            </a:xfrm>
            <a:custGeom>
              <a:avLst/>
              <a:gdLst/>
              <a:ahLst/>
              <a:cxnLst/>
              <a:rect r="r" b="b" t="t" l="l"/>
              <a:pathLst>
                <a:path h="533293" w="6562331">
                  <a:moveTo>
                    <a:pt x="0" y="0"/>
                  </a:moveTo>
                  <a:lnTo>
                    <a:pt x="6562331" y="0"/>
                  </a:lnTo>
                  <a:lnTo>
                    <a:pt x="6562331" y="533293"/>
                  </a:lnTo>
                  <a:lnTo>
                    <a:pt x="0" y="533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8" r="-16094" b="-2283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562333" cy="57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 spc="22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LÓGICA DEL MENÚ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623751" y="2696931"/>
            <a:ext cx="7635549" cy="441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7"/>
              </a:lnSpc>
            </a:pPr>
            <a:r>
              <a:rPr lang="en-US" sz="232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1. do-while: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Ejecuta </a:t>
            </a:r>
            <a:r>
              <a:rPr lang="en-US" sz="232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al menos una vez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, repite hasta opción 7.</a:t>
            </a:r>
          </a:p>
          <a:p>
            <a:pPr algn="l">
              <a:lnSpc>
                <a:spcPts val="4467"/>
              </a:lnSpc>
            </a:pPr>
            <a:r>
              <a:rPr lang="en-US" sz="232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2. int.TryParse():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Valida entrada numérica. Si no, error + </a:t>
            </a:r>
            <a:r>
              <a:rPr lang="en-US" sz="232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continue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  <a:p>
            <a:pPr algn="l">
              <a:lnSpc>
                <a:spcPts val="4467"/>
              </a:lnSpc>
            </a:pPr>
            <a:r>
              <a:rPr lang="en-US" sz="232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3. Switch (7 opciones):</a:t>
            </a:r>
          </a:p>
          <a:p>
            <a:pPr algn="l">
              <a:lnSpc>
                <a:spcPts val="4467"/>
              </a:lnSpc>
            </a:pP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  </a:t>
            </a:r>
            <a:r>
              <a:rPr lang="en-US" sz="232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→Mascota </a:t>
            </a:r>
            <a:r>
              <a:rPr lang="en-US" sz="232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2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→Médico </a:t>
            </a:r>
            <a:r>
              <a:rPr lang="en-US" sz="232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3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→Reportar </a:t>
            </a:r>
            <a:r>
              <a:rPr lang="en-US" sz="232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4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→Público</a:t>
            </a:r>
          </a:p>
          <a:p>
            <a:pPr algn="l">
              <a:lnSpc>
                <a:spcPts val="4467"/>
              </a:lnSpc>
            </a:pP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  </a:t>
            </a:r>
            <a:r>
              <a:rPr lang="en-US" sz="232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5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→PetPoints </a:t>
            </a:r>
            <a:r>
              <a:rPr lang="en-US" sz="232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6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→CSV </a:t>
            </a:r>
            <a:r>
              <a:rPr lang="en-US" sz="232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7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→Salir</a:t>
            </a:r>
          </a:p>
          <a:p>
            <a:pPr algn="l">
              <a:lnSpc>
                <a:spcPts val="4467"/>
              </a:lnSpc>
            </a:pPr>
            <a:r>
              <a:rPr lang="en-US" sz="232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4. Opción 7: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32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menu != 7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es false, termina y vuelve a </a:t>
            </a:r>
            <a:r>
              <a:rPr lang="en-US" sz="232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Main()</a:t>
            </a:r>
            <a:r>
              <a:rPr lang="en-US" sz="232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</p:txBody>
      </p:sp>
    </p:spTree>
  </p:cSld>
  <p:clrMapOvr>
    <a:masterClrMapping/>
  </p:clrMapOvr>
  <p:transition spd="fast">
    <p:wipe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2571245"/>
            <a:ext cx="4867844" cy="1784879"/>
            <a:chOff x="0" y="0"/>
            <a:chExt cx="5713882" cy="2095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884" cy="2095091"/>
            </a:xfrm>
            <a:custGeom>
              <a:avLst/>
              <a:gdLst/>
              <a:ahLst/>
              <a:cxnLst/>
              <a:rect r="r" b="b" t="t" l="l"/>
              <a:pathLst>
                <a:path h="2095091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2095091"/>
                  </a:lnTo>
                  <a:lnTo>
                    <a:pt x="0" y="2095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38125"/>
              <a:ext cx="5713882" cy="233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48"/>
                </a:lnSpc>
              </a:pPr>
              <a:r>
                <a:rPr lang="en-US" sz="10797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4680646"/>
            <a:ext cx="1947140" cy="64906"/>
            <a:chOff x="0" y="0"/>
            <a:chExt cx="2285556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5492" cy="76200"/>
            </a:xfrm>
            <a:custGeom>
              <a:avLst/>
              <a:gdLst/>
              <a:ahLst/>
              <a:cxnLst/>
              <a:rect r="r" b="b" t="t" l="l"/>
              <a:pathLst>
                <a:path h="76200" w="2285492">
                  <a:moveTo>
                    <a:pt x="0" y="0"/>
                  </a:moveTo>
                  <a:lnTo>
                    <a:pt x="2285492" y="0"/>
                  </a:lnTo>
                  <a:lnTo>
                    <a:pt x="228549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5167428"/>
            <a:ext cx="12980924" cy="811304"/>
            <a:chOff x="0" y="0"/>
            <a:chExt cx="15237028" cy="9523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3" cy="952314"/>
            </a:xfrm>
            <a:custGeom>
              <a:avLst/>
              <a:gdLst/>
              <a:ahLst/>
              <a:cxnLst/>
              <a:rect r="r" b="b" t="t" l="l"/>
              <a:pathLst>
                <a:path h="95231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5237028" cy="1047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0"/>
                </a:lnSpc>
              </a:pPr>
              <a:r>
                <a:rPr lang="en-US" sz="404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Sistema de Autenticación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6141003"/>
            <a:ext cx="11358306" cy="486782"/>
            <a:chOff x="0" y="0"/>
            <a:chExt cx="13332396" cy="571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571388"/>
            </a:xfrm>
            <a:custGeom>
              <a:avLst/>
              <a:gdLst/>
              <a:ahLst/>
              <a:cxnLst/>
              <a:rect r="r" b="b" t="t" l="l"/>
              <a:pathLst>
                <a:path h="571388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1" r="0" b="-4046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332396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>
                  <a:solidFill>
                    <a:srgbClr val="B4B4B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Login y Registro de usuarios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04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SISTEMA DE AUTENTICACIÓN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13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917834"/>
            <a:ext cx="11427771" cy="599961"/>
            <a:chOff x="0" y="0"/>
            <a:chExt cx="15237028" cy="799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37023" cy="799944"/>
            </a:xfrm>
            <a:custGeom>
              <a:avLst/>
              <a:gdLst/>
              <a:ahLst/>
              <a:cxnLst/>
              <a:rect r="r" b="b" t="t" l="l"/>
              <a:pathLst>
                <a:path h="79994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99944"/>
                  </a:lnTo>
                  <a:lnTo>
                    <a:pt x="0" y="799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5237028" cy="9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14"/>
                </a:lnSpc>
              </a:pPr>
              <a:r>
                <a:rPr lang="en-US" sz="35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IniciarSesion() — Validación de Credenciales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9944" y="1864243"/>
            <a:ext cx="16570262" cy="28565"/>
            <a:chOff x="0" y="0"/>
            <a:chExt cx="2209368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9944" y="2371430"/>
            <a:ext cx="8289199" cy="6470474"/>
            <a:chOff x="0" y="0"/>
            <a:chExt cx="9784336" cy="76375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84293" cy="7637526"/>
            </a:xfrm>
            <a:custGeom>
              <a:avLst/>
              <a:gdLst/>
              <a:ahLst/>
              <a:cxnLst/>
              <a:rect r="r" b="b" t="t" l="l"/>
              <a:pathLst>
                <a:path h="7637526" w="9784293">
                  <a:moveTo>
                    <a:pt x="0" y="610997"/>
                  </a:moveTo>
                  <a:cubicBezTo>
                    <a:pt x="0" y="273558"/>
                    <a:pt x="233828" y="0"/>
                    <a:pt x="522259" y="0"/>
                  </a:cubicBezTo>
                  <a:lnTo>
                    <a:pt x="9262033" y="0"/>
                  </a:lnTo>
                  <a:cubicBezTo>
                    <a:pt x="9550464" y="0"/>
                    <a:pt x="9784293" y="273558"/>
                    <a:pt x="9784293" y="610997"/>
                  </a:cubicBezTo>
                  <a:lnTo>
                    <a:pt x="9784293" y="7026529"/>
                  </a:lnTo>
                  <a:cubicBezTo>
                    <a:pt x="9784293" y="7363968"/>
                    <a:pt x="9550464" y="7637526"/>
                    <a:pt x="9262033" y="7637526"/>
                  </a:cubicBezTo>
                  <a:lnTo>
                    <a:pt x="522259" y="7637526"/>
                  </a:lnTo>
                  <a:cubicBezTo>
                    <a:pt x="233828" y="7637526"/>
                    <a:pt x="0" y="7363968"/>
                    <a:pt x="0" y="702652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32687" y="2540857"/>
            <a:ext cx="4137702" cy="387260"/>
            <a:chOff x="0" y="0"/>
            <a:chExt cx="4884026" cy="457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84028" cy="457110"/>
            </a:xfrm>
            <a:custGeom>
              <a:avLst/>
              <a:gdLst/>
              <a:ahLst/>
              <a:cxnLst/>
              <a:rect r="r" b="b" t="t" l="l"/>
              <a:pathLst>
                <a:path h="457110" w="4884028">
                  <a:moveTo>
                    <a:pt x="0" y="0"/>
                  </a:moveTo>
                  <a:lnTo>
                    <a:pt x="4884028" y="0"/>
                  </a:lnTo>
                  <a:lnTo>
                    <a:pt x="4884028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-16991" b="-1935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84026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INICIARSESION()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32687" y="2910629"/>
            <a:ext cx="7723713" cy="555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// Pedir usuario y clave</a:t>
            </a: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while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(paso &lt;= 2) { ... }</a:t>
            </a:r>
          </a:p>
          <a:p>
            <a:pPr algn="l">
              <a:lnSpc>
                <a:spcPts val="3201"/>
              </a:lnSpc>
            </a:pP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// Buscar usuario</a:t>
            </a: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bool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existe = </a:t>
            </a:r>
            <a:r>
              <a:rPr lang="en-US" sz="1778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false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for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</a:t>
            </a:r>
            <a:r>
              <a:rPr lang="en-US" sz="177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int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i = 0; i &lt; totalUsuarios; i++)</a:t>
            </a: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</a:t>
            </a: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7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(usuarios[i].usuario == usuario)</a:t>
            </a: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{ existe = </a:t>
            </a:r>
            <a:r>
              <a:rPr lang="en-US" sz="1778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true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77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(usuarios[i].clave == clave)</a:t>
            </a: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{ sesionIniciada = </a:t>
            </a:r>
            <a:r>
              <a:rPr lang="en-US" sz="1778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true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 usuarioActivo = u; }</a:t>
            </a: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77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else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MostrarError(</a:t>
            </a:r>
            <a:r>
              <a:rPr lang="en-US" sz="1778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"Clave incorrecta"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 }</a:t>
            </a: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}</a:t>
            </a:r>
          </a:p>
          <a:p>
            <a:pPr algn="l">
              <a:lnSpc>
                <a:spcPts val="3201"/>
              </a:lnSpc>
            </a:pPr>
            <a:r>
              <a:rPr lang="en-US" sz="177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(!existe) MostrarError(</a:t>
            </a:r>
            <a:r>
              <a:rPr lang="en-US" sz="1778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"No registrado"</a:t>
            </a:r>
            <a:r>
              <a:rPr lang="en-US" sz="177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83937" y="2379500"/>
            <a:ext cx="5516939" cy="451803"/>
            <a:chOff x="0" y="0"/>
            <a:chExt cx="6512039" cy="5332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12037" cy="533293"/>
            </a:xfrm>
            <a:custGeom>
              <a:avLst/>
              <a:gdLst/>
              <a:ahLst/>
              <a:cxnLst/>
              <a:rect r="r" b="b" t="t" l="l"/>
              <a:pathLst>
                <a:path h="533293" w="6512037">
                  <a:moveTo>
                    <a:pt x="0" y="0"/>
                  </a:moveTo>
                  <a:lnTo>
                    <a:pt x="6512037" y="0"/>
                  </a:lnTo>
                  <a:lnTo>
                    <a:pt x="6512037" y="533293"/>
                  </a:lnTo>
                  <a:lnTo>
                    <a:pt x="0" y="533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8" r="-16991" b="-2283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512039" cy="57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 spc="22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LÓGICA DEL LOGIN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683937" y="2830737"/>
            <a:ext cx="7172022" cy="544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0"/>
              </a:lnSpc>
            </a:pPr>
            <a:r>
              <a:rPr lang="en-US" sz="228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1. Navegación:</a:t>
            </a:r>
            <a:r>
              <a:rPr lang="en-US" sz="228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28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paso</a:t>
            </a:r>
            <a:r>
              <a:rPr lang="en-US" sz="228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controla flujo. </a:t>
            </a:r>
            <a:r>
              <a:rPr lang="en-US" sz="228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'/'</a:t>
            </a:r>
            <a:r>
              <a:rPr lang="en-US" sz="228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=salir, </a:t>
            </a:r>
            <a:r>
              <a:rPr lang="en-US" sz="228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'&lt;'</a:t>
            </a:r>
            <a:r>
              <a:rPr lang="en-US" sz="228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=retroceder.</a:t>
            </a:r>
          </a:p>
          <a:p>
            <a:pPr algn="l">
              <a:lnSpc>
                <a:spcPts val="4390"/>
              </a:lnSpc>
            </a:pPr>
            <a:r>
              <a:rPr lang="en-US" sz="228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2. Búsqueda:</a:t>
            </a:r>
            <a:r>
              <a:rPr lang="en-US" sz="228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28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for</a:t>
            </a:r>
            <a:r>
              <a:rPr lang="en-US" sz="228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recorre array comparando usuarios. O(n).</a:t>
            </a:r>
          </a:p>
          <a:p>
            <a:pPr algn="l">
              <a:lnSpc>
                <a:spcPts val="4390"/>
              </a:lnSpc>
            </a:pPr>
            <a:r>
              <a:rPr lang="en-US" sz="228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3. Validación:</a:t>
            </a:r>
            <a:r>
              <a:rPr lang="en-US" sz="228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Encuentra usuario → compara clave. OK → sesión. No → error.</a:t>
            </a:r>
          </a:p>
          <a:p>
            <a:pPr algn="l">
              <a:lnSpc>
                <a:spcPts val="4390"/>
              </a:lnSpc>
            </a:pPr>
            <a:r>
              <a:rPr lang="en-US" sz="228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4. No encontrado:</a:t>
            </a:r>
            <a:r>
              <a:rPr lang="en-US" sz="228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For sin coincidencia → "no registrado".</a:t>
            </a:r>
          </a:p>
          <a:p>
            <a:pPr algn="l">
              <a:lnSpc>
                <a:spcPts val="4390"/>
              </a:lnSpc>
            </a:pPr>
            <a:r>
              <a:rPr lang="en-US" sz="2286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5. Flag:</a:t>
            </a:r>
            <a:r>
              <a:rPr lang="en-US" sz="228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286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existe</a:t>
            </a:r>
            <a:r>
              <a:rPr lang="en-US" sz="2286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evita "no registrado" si clave es incorrecta.</a:t>
            </a:r>
          </a:p>
        </p:txBody>
      </p:sp>
    </p:spTree>
  </p:cSld>
  <p:clrMapOvr>
    <a:masterClrMapping/>
  </p:clrMapOvr>
  <p:transition spd="fast">
    <p:wipe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04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SISTEMA DE AUTENTICACIÓN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14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785660"/>
            <a:ext cx="11713504" cy="614962"/>
            <a:chOff x="0" y="0"/>
            <a:chExt cx="15237028" cy="799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37023" cy="799944"/>
            </a:xfrm>
            <a:custGeom>
              <a:avLst/>
              <a:gdLst/>
              <a:ahLst/>
              <a:cxnLst/>
              <a:rect r="r" b="b" t="t" l="l"/>
              <a:pathLst>
                <a:path h="79994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99944"/>
                  </a:lnTo>
                  <a:lnTo>
                    <a:pt x="0" y="799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5237028" cy="9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14"/>
                </a:lnSpc>
              </a:pPr>
              <a:r>
                <a:rPr lang="en-US" sz="35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Registrarse() — Creación de Nuevas Cuentas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9944" y="1864243"/>
            <a:ext cx="16570262" cy="28565"/>
            <a:chOff x="0" y="0"/>
            <a:chExt cx="2209368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9944" y="2371430"/>
            <a:ext cx="8498082" cy="7483983"/>
            <a:chOff x="0" y="0"/>
            <a:chExt cx="10143280" cy="8932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43235" cy="8932894"/>
            </a:xfrm>
            <a:custGeom>
              <a:avLst/>
              <a:gdLst/>
              <a:ahLst/>
              <a:cxnLst/>
              <a:rect r="r" b="b" t="t" l="l"/>
              <a:pathLst>
                <a:path h="8932894" w="10143235">
                  <a:moveTo>
                    <a:pt x="0" y="714626"/>
                  </a:moveTo>
                  <a:cubicBezTo>
                    <a:pt x="0" y="319891"/>
                    <a:pt x="254447" y="0"/>
                    <a:pt x="568427" y="0"/>
                  </a:cubicBezTo>
                  <a:lnTo>
                    <a:pt x="9574808" y="0"/>
                  </a:lnTo>
                  <a:cubicBezTo>
                    <a:pt x="9888787" y="0"/>
                    <a:pt x="10143235" y="319891"/>
                    <a:pt x="10143235" y="714626"/>
                  </a:cubicBezTo>
                  <a:lnTo>
                    <a:pt x="10143235" y="8218272"/>
                  </a:lnTo>
                  <a:cubicBezTo>
                    <a:pt x="10143235" y="8613008"/>
                    <a:pt x="9888787" y="8932894"/>
                    <a:pt x="9574808" y="8932894"/>
                  </a:cubicBezTo>
                  <a:lnTo>
                    <a:pt x="568427" y="8932894"/>
                  </a:lnTo>
                  <a:cubicBezTo>
                    <a:pt x="254447" y="8932894"/>
                    <a:pt x="0" y="8612866"/>
                    <a:pt x="0" y="8218272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39812" y="2538980"/>
            <a:ext cx="4241969" cy="382969"/>
            <a:chOff x="0" y="0"/>
            <a:chExt cx="5063200" cy="457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63201" cy="457110"/>
            </a:xfrm>
            <a:custGeom>
              <a:avLst/>
              <a:gdLst/>
              <a:ahLst/>
              <a:cxnLst/>
              <a:rect r="r" b="b" t="t" l="l"/>
              <a:pathLst>
                <a:path h="457110" w="5063201">
                  <a:moveTo>
                    <a:pt x="0" y="0"/>
                  </a:moveTo>
                  <a:lnTo>
                    <a:pt x="5063201" y="0"/>
                  </a:lnTo>
                  <a:lnTo>
                    <a:pt x="5063201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-12851" b="-1935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063200" cy="504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17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REGISTRARSE()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39812" y="2912914"/>
            <a:ext cx="7918345" cy="667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// Flujo de 4 pasos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while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(paso &lt;= 4)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95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(paso == 1) { nombre = ...; paso = 2; }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95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else if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(paso == 2) {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usuario = ObtenerEntrada(...);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959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// Validar duplicado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95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bool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dup = </a:t>
            </a:r>
            <a:r>
              <a:rPr lang="en-US" sz="1959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false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95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for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</a:t>
            </a:r>
            <a:r>
              <a:rPr lang="en-US" sz="195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int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i = 0; i &lt; totalUsuarios; i++)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  </a:t>
            </a:r>
            <a:r>
              <a:rPr lang="en-US" sz="195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(usuarios[i].usuario == u) dup = </a:t>
            </a:r>
            <a:r>
              <a:rPr lang="en-US" sz="1959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true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95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(dup) { Error(...); </a:t>
            </a:r>
            <a:r>
              <a:rPr lang="en-US" sz="195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continue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 }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paso = 3; }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95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else if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(paso == 3) { tlf = ...; paso = 4; }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95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else if</a:t>
            </a: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(paso == 4) { clv = ...; paso = 5; }</a:t>
            </a:r>
          </a:p>
          <a:p>
            <a:pPr algn="l">
              <a:lnSpc>
                <a:spcPts val="3526"/>
              </a:lnSpc>
            </a:pPr>
            <a:r>
              <a:rPr lang="en-US" sz="195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}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06548" y="2379411"/>
            <a:ext cx="5655962" cy="446797"/>
            <a:chOff x="0" y="0"/>
            <a:chExt cx="6750937" cy="5332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50934" cy="533293"/>
            </a:xfrm>
            <a:custGeom>
              <a:avLst/>
              <a:gdLst/>
              <a:ahLst/>
              <a:cxnLst/>
              <a:rect r="r" b="b" t="t" l="l"/>
              <a:pathLst>
                <a:path h="533293" w="6750934">
                  <a:moveTo>
                    <a:pt x="0" y="0"/>
                  </a:moveTo>
                  <a:lnTo>
                    <a:pt x="6750934" y="0"/>
                  </a:lnTo>
                  <a:lnTo>
                    <a:pt x="6750934" y="533293"/>
                  </a:lnTo>
                  <a:lnTo>
                    <a:pt x="0" y="533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8" r="-12851" b="-2283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750937" cy="57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 spc="22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LÓGICA DEL REGISTRO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06548" y="2823854"/>
            <a:ext cx="7352752" cy="429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2"/>
              </a:lnSpc>
            </a:pPr>
            <a:r>
              <a:rPr lang="en-US" sz="2261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1. Formulario de 4 pasos: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Variable </a:t>
            </a: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paso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navega: nombre → usuario → teléfono → clave.</a:t>
            </a:r>
          </a:p>
          <a:p>
            <a:pPr algn="l">
              <a:lnSpc>
                <a:spcPts val="4342"/>
              </a:lnSpc>
            </a:pPr>
            <a:r>
              <a:rPr lang="en-US" sz="2261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2. Validación: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Recorre el array con </a:t>
            </a: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for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para verificar que el usuario no exista. Si existe, </a:t>
            </a: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continue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reintenta.</a:t>
            </a:r>
          </a:p>
          <a:p>
            <a:pPr algn="l">
              <a:lnSpc>
                <a:spcPts val="4342"/>
              </a:lnSpc>
            </a:pPr>
            <a:r>
              <a:rPr lang="en-US" sz="2261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3. Crear struct: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Crea </a:t>
            </a: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Usuario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con inicialización y </a:t>
            </a: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petPoints = 0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  <a:p>
            <a:pPr algn="l">
              <a:lnSpc>
                <a:spcPts val="4342"/>
              </a:lnSpc>
            </a:pPr>
            <a:r>
              <a:rPr lang="en-US" sz="2261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4. Guardar: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Verifica espacio (</a:t>
            </a: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totalUsuarios &lt; Length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), guarda e incrementa </a:t>
            </a:r>
            <a:r>
              <a:rPr lang="en-US" sz="226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totalUsuarios++</a:t>
            </a:r>
            <a:r>
              <a:rPr lang="en-US" sz="226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</p:txBody>
      </p:sp>
    </p:spTree>
  </p:cSld>
  <p:clrMapOvr>
    <a:masterClrMapping/>
  </p:clrMapOvr>
  <p:transition spd="fast">
    <p:wipe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2571245"/>
            <a:ext cx="4910489" cy="1800516"/>
            <a:chOff x="0" y="0"/>
            <a:chExt cx="5713882" cy="2095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884" cy="2095091"/>
            </a:xfrm>
            <a:custGeom>
              <a:avLst/>
              <a:gdLst/>
              <a:ahLst/>
              <a:cxnLst/>
              <a:rect r="r" b="b" t="t" l="l"/>
              <a:pathLst>
                <a:path h="2095091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2095091"/>
                  </a:lnTo>
                  <a:lnTo>
                    <a:pt x="0" y="2095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38125"/>
              <a:ext cx="5713882" cy="233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48"/>
                </a:lnSpc>
              </a:pPr>
              <a:r>
                <a:rPr lang="en-US" sz="10797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4699125"/>
            <a:ext cx="1964198" cy="65475"/>
            <a:chOff x="0" y="0"/>
            <a:chExt cx="2285556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5492" cy="76200"/>
            </a:xfrm>
            <a:custGeom>
              <a:avLst/>
              <a:gdLst/>
              <a:ahLst/>
              <a:cxnLst/>
              <a:rect r="r" b="b" t="t" l="l"/>
              <a:pathLst>
                <a:path h="76200" w="2285492">
                  <a:moveTo>
                    <a:pt x="0" y="0"/>
                  </a:moveTo>
                  <a:lnTo>
                    <a:pt x="2285492" y="0"/>
                  </a:lnTo>
                  <a:lnTo>
                    <a:pt x="228549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5190172"/>
            <a:ext cx="13094645" cy="818411"/>
            <a:chOff x="0" y="0"/>
            <a:chExt cx="15237028" cy="9523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3" cy="952314"/>
            </a:xfrm>
            <a:custGeom>
              <a:avLst/>
              <a:gdLst/>
              <a:ahLst/>
              <a:cxnLst/>
              <a:rect r="r" b="b" t="t" l="l"/>
              <a:pathLst>
                <a:path h="95231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5237028" cy="1047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0"/>
                </a:lnSpc>
              </a:pPr>
              <a:r>
                <a:rPr lang="en-US" sz="404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Gestión de Mascotas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6172276"/>
            <a:ext cx="11457812" cy="491047"/>
            <a:chOff x="0" y="0"/>
            <a:chExt cx="13332396" cy="571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571388"/>
            </a:xfrm>
            <a:custGeom>
              <a:avLst/>
              <a:gdLst/>
              <a:ahLst/>
              <a:cxnLst/>
              <a:rect r="r" b="b" t="t" l="l"/>
              <a:pathLst>
                <a:path h="571388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1" r="0" b="-4046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332396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>
                  <a:solidFill>
                    <a:srgbClr val="B4B4B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Registro completo de mascotas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05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GESTIÓN DE MASCOTAS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16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785660"/>
            <a:ext cx="11427771" cy="782626"/>
            <a:chOff x="0" y="0"/>
            <a:chExt cx="15237028" cy="1043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37023" cy="1043497"/>
            </a:xfrm>
            <a:custGeom>
              <a:avLst/>
              <a:gdLst/>
              <a:ahLst/>
              <a:cxnLst/>
              <a:rect r="r" b="b" t="t" l="l"/>
              <a:pathLst>
                <a:path h="1043497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1043497"/>
                  </a:lnTo>
                  <a:lnTo>
                    <a:pt x="0" y="1043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88" r="0" b="-22284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5237028" cy="1167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70"/>
                </a:lnSpc>
              </a:pPr>
              <a:r>
                <a:rPr lang="en-US" sz="36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registroMascota() — Formulario de 9 Pasos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9944" y="1591230"/>
            <a:ext cx="16570262" cy="28565"/>
            <a:chOff x="0" y="0"/>
            <a:chExt cx="2209368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7075" y="1642740"/>
            <a:ext cx="5711424" cy="454538"/>
            <a:chOff x="0" y="0"/>
            <a:chExt cx="6701038" cy="5332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1036" cy="533293"/>
            </a:xfrm>
            <a:custGeom>
              <a:avLst/>
              <a:gdLst/>
              <a:ahLst/>
              <a:cxnLst/>
              <a:rect r="r" b="b" t="t" l="l"/>
              <a:pathLst>
                <a:path h="533293" w="6701036">
                  <a:moveTo>
                    <a:pt x="0" y="0"/>
                  </a:moveTo>
                  <a:lnTo>
                    <a:pt x="6701036" y="0"/>
                  </a:lnTo>
                  <a:lnTo>
                    <a:pt x="6701036" y="533293"/>
                  </a:lnTo>
                  <a:lnTo>
                    <a:pt x="0" y="533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8" r="-13691" b="-22835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701038" cy="57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 spc="22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LOS 9 PASOS DEL FORMULARIO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49944" y="2202796"/>
            <a:ext cx="1727710" cy="665574"/>
            <a:chOff x="0" y="0"/>
            <a:chExt cx="2027068" cy="7808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27132" cy="780923"/>
            </a:xfrm>
            <a:custGeom>
              <a:avLst/>
              <a:gdLst/>
              <a:ahLst/>
              <a:cxnLst/>
              <a:rect r="r" b="b" t="t" l="l"/>
              <a:pathLst>
                <a:path h="780923" w="2027132">
                  <a:moveTo>
                    <a:pt x="0" y="62484"/>
                  </a:moveTo>
                  <a:cubicBezTo>
                    <a:pt x="0" y="27940"/>
                    <a:pt x="24575" y="0"/>
                    <a:pt x="54959" y="0"/>
                  </a:cubicBezTo>
                  <a:lnTo>
                    <a:pt x="1972165" y="0"/>
                  </a:lnTo>
                  <a:cubicBezTo>
                    <a:pt x="2002549" y="0"/>
                    <a:pt x="2027132" y="27940"/>
                    <a:pt x="2027132" y="62484"/>
                  </a:cubicBezTo>
                  <a:lnTo>
                    <a:pt x="2027132" y="718439"/>
                  </a:lnTo>
                  <a:cubicBezTo>
                    <a:pt x="2027132" y="752983"/>
                    <a:pt x="2002549" y="780923"/>
                    <a:pt x="1972165" y="780923"/>
                  </a:cubicBezTo>
                  <a:lnTo>
                    <a:pt x="54959" y="780923"/>
                  </a:lnTo>
                  <a:cubicBezTo>
                    <a:pt x="24575" y="780923"/>
                    <a:pt x="0" y="752983"/>
                    <a:pt x="0" y="71843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57075" y="2210913"/>
            <a:ext cx="1713428" cy="649341"/>
            <a:chOff x="0" y="0"/>
            <a:chExt cx="2010312" cy="7618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0311" cy="761855"/>
            </a:xfrm>
            <a:custGeom>
              <a:avLst/>
              <a:gdLst/>
              <a:ahLst/>
              <a:cxnLst/>
              <a:rect r="r" b="b" t="t" l="l"/>
              <a:pathLst>
                <a:path h="761855" w="2010311">
                  <a:moveTo>
                    <a:pt x="0" y="0"/>
                  </a:moveTo>
                  <a:lnTo>
                    <a:pt x="2010311" y="0"/>
                  </a:lnTo>
                  <a:lnTo>
                    <a:pt x="2010311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13691" b="-845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10312" cy="79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1. Nombre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706148" y="2202796"/>
            <a:ext cx="1727710" cy="665574"/>
            <a:chOff x="0" y="0"/>
            <a:chExt cx="2027068" cy="7808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27132" cy="780923"/>
            </a:xfrm>
            <a:custGeom>
              <a:avLst/>
              <a:gdLst/>
              <a:ahLst/>
              <a:cxnLst/>
              <a:rect r="r" b="b" t="t" l="l"/>
              <a:pathLst>
                <a:path h="780923" w="2027132">
                  <a:moveTo>
                    <a:pt x="0" y="62484"/>
                  </a:moveTo>
                  <a:cubicBezTo>
                    <a:pt x="0" y="27940"/>
                    <a:pt x="24575" y="0"/>
                    <a:pt x="54959" y="0"/>
                  </a:cubicBezTo>
                  <a:lnTo>
                    <a:pt x="1972165" y="0"/>
                  </a:lnTo>
                  <a:cubicBezTo>
                    <a:pt x="2002549" y="0"/>
                    <a:pt x="2027132" y="27940"/>
                    <a:pt x="2027132" y="62484"/>
                  </a:cubicBezTo>
                  <a:lnTo>
                    <a:pt x="2027132" y="718439"/>
                  </a:lnTo>
                  <a:cubicBezTo>
                    <a:pt x="2027132" y="752983"/>
                    <a:pt x="2002549" y="780923"/>
                    <a:pt x="1972165" y="780923"/>
                  </a:cubicBezTo>
                  <a:lnTo>
                    <a:pt x="54959" y="780923"/>
                  </a:lnTo>
                  <a:cubicBezTo>
                    <a:pt x="24575" y="780923"/>
                    <a:pt x="0" y="752983"/>
                    <a:pt x="0" y="71843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713289" y="2210913"/>
            <a:ext cx="1713428" cy="649341"/>
            <a:chOff x="0" y="0"/>
            <a:chExt cx="2010312" cy="7618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0311" cy="761855"/>
            </a:xfrm>
            <a:custGeom>
              <a:avLst/>
              <a:gdLst/>
              <a:ahLst/>
              <a:cxnLst/>
              <a:rect r="r" b="b" t="t" l="l"/>
              <a:pathLst>
                <a:path h="761855" w="2010311">
                  <a:moveTo>
                    <a:pt x="0" y="0"/>
                  </a:moveTo>
                  <a:lnTo>
                    <a:pt x="2010311" y="0"/>
                  </a:lnTo>
                  <a:lnTo>
                    <a:pt x="2010311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13691" b="-845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10312" cy="79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2. Especie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562361" y="2202796"/>
            <a:ext cx="1727710" cy="665574"/>
            <a:chOff x="0" y="0"/>
            <a:chExt cx="2027068" cy="7808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27132" cy="780923"/>
            </a:xfrm>
            <a:custGeom>
              <a:avLst/>
              <a:gdLst/>
              <a:ahLst/>
              <a:cxnLst/>
              <a:rect r="r" b="b" t="t" l="l"/>
              <a:pathLst>
                <a:path h="780923" w="2027132">
                  <a:moveTo>
                    <a:pt x="0" y="62484"/>
                  </a:moveTo>
                  <a:cubicBezTo>
                    <a:pt x="0" y="27940"/>
                    <a:pt x="24575" y="0"/>
                    <a:pt x="54959" y="0"/>
                  </a:cubicBezTo>
                  <a:lnTo>
                    <a:pt x="1972165" y="0"/>
                  </a:lnTo>
                  <a:cubicBezTo>
                    <a:pt x="2002549" y="0"/>
                    <a:pt x="2027132" y="27940"/>
                    <a:pt x="2027132" y="62484"/>
                  </a:cubicBezTo>
                  <a:lnTo>
                    <a:pt x="2027132" y="718439"/>
                  </a:lnTo>
                  <a:cubicBezTo>
                    <a:pt x="2027132" y="752983"/>
                    <a:pt x="2002549" y="780923"/>
                    <a:pt x="1972165" y="780923"/>
                  </a:cubicBezTo>
                  <a:lnTo>
                    <a:pt x="54959" y="780923"/>
                  </a:lnTo>
                  <a:cubicBezTo>
                    <a:pt x="24575" y="780923"/>
                    <a:pt x="0" y="752983"/>
                    <a:pt x="0" y="71843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569502" y="2210913"/>
            <a:ext cx="1713428" cy="649341"/>
            <a:chOff x="0" y="0"/>
            <a:chExt cx="2010312" cy="7618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10311" cy="761855"/>
            </a:xfrm>
            <a:custGeom>
              <a:avLst/>
              <a:gdLst/>
              <a:ahLst/>
              <a:cxnLst/>
              <a:rect r="r" b="b" t="t" l="l"/>
              <a:pathLst>
                <a:path h="761855" w="2010311">
                  <a:moveTo>
                    <a:pt x="0" y="0"/>
                  </a:moveTo>
                  <a:lnTo>
                    <a:pt x="2010311" y="0"/>
                  </a:lnTo>
                  <a:lnTo>
                    <a:pt x="2010311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13691" b="-84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010312" cy="79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3. Raza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18574" y="2202796"/>
            <a:ext cx="1727710" cy="665574"/>
            <a:chOff x="0" y="0"/>
            <a:chExt cx="2027068" cy="7808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27132" cy="780923"/>
            </a:xfrm>
            <a:custGeom>
              <a:avLst/>
              <a:gdLst/>
              <a:ahLst/>
              <a:cxnLst/>
              <a:rect r="r" b="b" t="t" l="l"/>
              <a:pathLst>
                <a:path h="780923" w="2027132">
                  <a:moveTo>
                    <a:pt x="0" y="62484"/>
                  </a:moveTo>
                  <a:cubicBezTo>
                    <a:pt x="0" y="27940"/>
                    <a:pt x="24575" y="0"/>
                    <a:pt x="54959" y="0"/>
                  </a:cubicBezTo>
                  <a:lnTo>
                    <a:pt x="1972165" y="0"/>
                  </a:lnTo>
                  <a:cubicBezTo>
                    <a:pt x="2002549" y="0"/>
                    <a:pt x="2027132" y="27940"/>
                    <a:pt x="2027132" y="62484"/>
                  </a:cubicBezTo>
                  <a:lnTo>
                    <a:pt x="2027132" y="718439"/>
                  </a:lnTo>
                  <a:cubicBezTo>
                    <a:pt x="2027132" y="752983"/>
                    <a:pt x="2002549" y="780923"/>
                    <a:pt x="1972165" y="780923"/>
                  </a:cubicBezTo>
                  <a:lnTo>
                    <a:pt x="54959" y="780923"/>
                  </a:lnTo>
                  <a:cubicBezTo>
                    <a:pt x="24575" y="780923"/>
                    <a:pt x="0" y="752983"/>
                    <a:pt x="0" y="71843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425715" y="2210913"/>
            <a:ext cx="1713428" cy="649341"/>
            <a:chOff x="0" y="0"/>
            <a:chExt cx="2010312" cy="7618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10311" cy="761855"/>
            </a:xfrm>
            <a:custGeom>
              <a:avLst/>
              <a:gdLst/>
              <a:ahLst/>
              <a:cxnLst/>
              <a:rect r="r" b="b" t="t" l="l"/>
              <a:pathLst>
                <a:path h="761855" w="2010311">
                  <a:moveTo>
                    <a:pt x="0" y="0"/>
                  </a:moveTo>
                  <a:lnTo>
                    <a:pt x="2010311" y="0"/>
                  </a:lnTo>
                  <a:lnTo>
                    <a:pt x="2010311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13691" b="-845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010312" cy="79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4. Color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74787" y="2202796"/>
            <a:ext cx="1727710" cy="665574"/>
            <a:chOff x="0" y="0"/>
            <a:chExt cx="2027068" cy="78089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27132" cy="780923"/>
            </a:xfrm>
            <a:custGeom>
              <a:avLst/>
              <a:gdLst/>
              <a:ahLst/>
              <a:cxnLst/>
              <a:rect r="r" b="b" t="t" l="l"/>
              <a:pathLst>
                <a:path h="780923" w="2027132">
                  <a:moveTo>
                    <a:pt x="0" y="62484"/>
                  </a:moveTo>
                  <a:cubicBezTo>
                    <a:pt x="0" y="27940"/>
                    <a:pt x="24575" y="0"/>
                    <a:pt x="54959" y="0"/>
                  </a:cubicBezTo>
                  <a:lnTo>
                    <a:pt x="1972165" y="0"/>
                  </a:lnTo>
                  <a:cubicBezTo>
                    <a:pt x="2002549" y="0"/>
                    <a:pt x="2027132" y="27940"/>
                    <a:pt x="2027132" y="62484"/>
                  </a:cubicBezTo>
                  <a:lnTo>
                    <a:pt x="2027132" y="718439"/>
                  </a:lnTo>
                  <a:cubicBezTo>
                    <a:pt x="2027132" y="752983"/>
                    <a:pt x="2002549" y="780923"/>
                    <a:pt x="1972165" y="780923"/>
                  </a:cubicBezTo>
                  <a:lnTo>
                    <a:pt x="54959" y="780923"/>
                  </a:lnTo>
                  <a:cubicBezTo>
                    <a:pt x="24575" y="780923"/>
                    <a:pt x="0" y="752983"/>
                    <a:pt x="0" y="71843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FFC107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281928" y="2210913"/>
            <a:ext cx="1713428" cy="649341"/>
            <a:chOff x="0" y="0"/>
            <a:chExt cx="2010312" cy="7618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0311" cy="761855"/>
            </a:xfrm>
            <a:custGeom>
              <a:avLst/>
              <a:gdLst/>
              <a:ahLst/>
              <a:cxnLst/>
              <a:rect r="r" b="b" t="t" l="l"/>
              <a:pathLst>
                <a:path h="761855" w="2010311">
                  <a:moveTo>
                    <a:pt x="0" y="0"/>
                  </a:moveTo>
                  <a:lnTo>
                    <a:pt x="2010311" y="0"/>
                  </a:lnTo>
                  <a:lnTo>
                    <a:pt x="2010311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13691" b="-84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010312" cy="79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>
                  <a:solidFill>
                    <a:srgbClr val="FFC107"/>
                  </a:solidFill>
                  <a:latin typeface="Literata"/>
                  <a:ea typeface="Literata"/>
                  <a:cs typeface="Literata"/>
                  <a:sym typeface="Literata"/>
                </a:rPr>
                <a:t>5. Sangre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131001" y="2202796"/>
            <a:ext cx="1727710" cy="665574"/>
            <a:chOff x="0" y="0"/>
            <a:chExt cx="2027068" cy="78089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27132" cy="780923"/>
            </a:xfrm>
            <a:custGeom>
              <a:avLst/>
              <a:gdLst/>
              <a:ahLst/>
              <a:cxnLst/>
              <a:rect r="r" b="b" t="t" l="l"/>
              <a:pathLst>
                <a:path h="780923" w="2027132">
                  <a:moveTo>
                    <a:pt x="0" y="62484"/>
                  </a:moveTo>
                  <a:cubicBezTo>
                    <a:pt x="0" y="27940"/>
                    <a:pt x="24575" y="0"/>
                    <a:pt x="54959" y="0"/>
                  </a:cubicBezTo>
                  <a:lnTo>
                    <a:pt x="1972165" y="0"/>
                  </a:lnTo>
                  <a:cubicBezTo>
                    <a:pt x="2002549" y="0"/>
                    <a:pt x="2027132" y="27940"/>
                    <a:pt x="2027132" y="62484"/>
                  </a:cubicBezTo>
                  <a:lnTo>
                    <a:pt x="2027132" y="718439"/>
                  </a:lnTo>
                  <a:cubicBezTo>
                    <a:pt x="2027132" y="752983"/>
                    <a:pt x="2002549" y="780923"/>
                    <a:pt x="1972165" y="780923"/>
                  </a:cubicBezTo>
                  <a:lnTo>
                    <a:pt x="54959" y="780923"/>
                  </a:lnTo>
                  <a:cubicBezTo>
                    <a:pt x="24575" y="780923"/>
                    <a:pt x="0" y="752983"/>
                    <a:pt x="0" y="71843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FFC10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138141" y="2210913"/>
            <a:ext cx="1713428" cy="649341"/>
            <a:chOff x="0" y="0"/>
            <a:chExt cx="2010312" cy="76185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10311" cy="761855"/>
            </a:xfrm>
            <a:custGeom>
              <a:avLst/>
              <a:gdLst/>
              <a:ahLst/>
              <a:cxnLst/>
              <a:rect r="r" b="b" t="t" l="l"/>
              <a:pathLst>
                <a:path h="761855" w="2010311">
                  <a:moveTo>
                    <a:pt x="0" y="0"/>
                  </a:moveTo>
                  <a:lnTo>
                    <a:pt x="2010311" y="0"/>
                  </a:lnTo>
                  <a:lnTo>
                    <a:pt x="2010311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13691" b="-845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010312" cy="79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>
                  <a:solidFill>
                    <a:srgbClr val="FFC107"/>
                  </a:solidFill>
                  <a:latin typeface="Literata"/>
                  <a:ea typeface="Literata"/>
                  <a:cs typeface="Literata"/>
                  <a:sym typeface="Literata"/>
                </a:rPr>
                <a:t>6. Vacunas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87214" y="2202796"/>
            <a:ext cx="1727710" cy="665574"/>
            <a:chOff x="0" y="0"/>
            <a:chExt cx="2027068" cy="78089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27132" cy="780923"/>
            </a:xfrm>
            <a:custGeom>
              <a:avLst/>
              <a:gdLst/>
              <a:ahLst/>
              <a:cxnLst/>
              <a:rect r="r" b="b" t="t" l="l"/>
              <a:pathLst>
                <a:path h="780923" w="2027132">
                  <a:moveTo>
                    <a:pt x="0" y="62484"/>
                  </a:moveTo>
                  <a:cubicBezTo>
                    <a:pt x="0" y="27940"/>
                    <a:pt x="24575" y="0"/>
                    <a:pt x="54959" y="0"/>
                  </a:cubicBezTo>
                  <a:lnTo>
                    <a:pt x="1972165" y="0"/>
                  </a:lnTo>
                  <a:cubicBezTo>
                    <a:pt x="2002549" y="0"/>
                    <a:pt x="2027132" y="27940"/>
                    <a:pt x="2027132" y="62484"/>
                  </a:cubicBezTo>
                  <a:lnTo>
                    <a:pt x="2027132" y="718439"/>
                  </a:lnTo>
                  <a:cubicBezTo>
                    <a:pt x="2027132" y="752983"/>
                    <a:pt x="2002549" y="780923"/>
                    <a:pt x="1972165" y="780923"/>
                  </a:cubicBezTo>
                  <a:lnTo>
                    <a:pt x="54959" y="780923"/>
                  </a:lnTo>
                  <a:cubicBezTo>
                    <a:pt x="24575" y="780923"/>
                    <a:pt x="0" y="752983"/>
                    <a:pt x="0" y="71843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FFC107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994354" y="2210913"/>
            <a:ext cx="1713428" cy="649341"/>
            <a:chOff x="0" y="0"/>
            <a:chExt cx="2010312" cy="7618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10311" cy="761855"/>
            </a:xfrm>
            <a:custGeom>
              <a:avLst/>
              <a:gdLst/>
              <a:ahLst/>
              <a:cxnLst/>
              <a:rect r="r" b="b" t="t" l="l"/>
              <a:pathLst>
                <a:path h="761855" w="2010311">
                  <a:moveTo>
                    <a:pt x="0" y="0"/>
                  </a:moveTo>
                  <a:lnTo>
                    <a:pt x="2010311" y="0"/>
                  </a:lnTo>
                  <a:lnTo>
                    <a:pt x="2010311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13691" b="-845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010312" cy="79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>
                  <a:solidFill>
                    <a:srgbClr val="FFC107"/>
                  </a:solidFill>
                  <a:latin typeface="Literata"/>
                  <a:ea typeface="Literata"/>
                  <a:cs typeface="Literata"/>
                  <a:sym typeface="Literata"/>
                </a:rPr>
                <a:t>7. Alergias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843427" y="2202796"/>
            <a:ext cx="1727710" cy="665574"/>
            <a:chOff x="0" y="0"/>
            <a:chExt cx="2027068" cy="78089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27132" cy="780923"/>
            </a:xfrm>
            <a:custGeom>
              <a:avLst/>
              <a:gdLst/>
              <a:ahLst/>
              <a:cxnLst/>
              <a:rect r="r" b="b" t="t" l="l"/>
              <a:pathLst>
                <a:path h="780923" w="2027132">
                  <a:moveTo>
                    <a:pt x="0" y="62484"/>
                  </a:moveTo>
                  <a:cubicBezTo>
                    <a:pt x="0" y="27940"/>
                    <a:pt x="24575" y="0"/>
                    <a:pt x="54959" y="0"/>
                  </a:cubicBezTo>
                  <a:lnTo>
                    <a:pt x="1972165" y="0"/>
                  </a:lnTo>
                  <a:cubicBezTo>
                    <a:pt x="2002549" y="0"/>
                    <a:pt x="2027132" y="27940"/>
                    <a:pt x="2027132" y="62484"/>
                  </a:cubicBezTo>
                  <a:lnTo>
                    <a:pt x="2027132" y="718439"/>
                  </a:lnTo>
                  <a:cubicBezTo>
                    <a:pt x="2027132" y="752983"/>
                    <a:pt x="2002549" y="780923"/>
                    <a:pt x="1972165" y="780923"/>
                  </a:cubicBezTo>
                  <a:lnTo>
                    <a:pt x="54959" y="780923"/>
                  </a:lnTo>
                  <a:cubicBezTo>
                    <a:pt x="24575" y="780923"/>
                    <a:pt x="0" y="752983"/>
                    <a:pt x="0" y="71843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FFC10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3850568" y="2210913"/>
            <a:ext cx="1713428" cy="649341"/>
            <a:chOff x="0" y="0"/>
            <a:chExt cx="2010312" cy="7618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10311" cy="761855"/>
            </a:xfrm>
            <a:custGeom>
              <a:avLst/>
              <a:gdLst/>
              <a:ahLst/>
              <a:cxnLst/>
              <a:rect r="r" b="b" t="t" l="l"/>
              <a:pathLst>
                <a:path h="761855" w="2010311">
                  <a:moveTo>
                    <a:pt x="0" y="0"/>
                  </a:moveTo>
                  <a:lnTo>
                    <a:pt x="2010311" y="0"/>
                  </a:lnTo>
                  <a:lnTo>
                    <a:pt x="2010311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13691" b="-845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010312" cy="79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>
                  <a:solidFill>
                    <a:srgbClr val="FFC107"/>
                  </a:solidFill>
                  <a:latin typeface="Literata"/>
                  <a:ea typeface="Literata"/>
                  <a:cs typeface="Literata"/>
                  <a:sym typeface="Literata"/>
                </a:rPr>
                <a:t>8. Condición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699640" y="2202796"/>
            <a:ext cx="1727710" cy="665574"/>
            <a:chOff x="0" y="0"/>
            <a:chExt cx="2027068" cy="78089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27132" cy="780923"/>
            </a:xfrm>
            <a:custGeom>
              <a:avLst/>
              <a:gdLst/>
              <a:ahLst/>
              <a:cxnLst/>
              <a:rect r="r" b="b" t="t" l="l"/>
              <a:pathLst>
                <a:path h="780923" w="2027132">
                  <a:moveTo>
                    <a:pt x="0" y="62484"/>
                  </a:moveTo>
                  <a:cubicBezTo>
                    <a:pt x="0" y="27940"/>
                    <a:pt x="24575" y="0"/>
                    <a:pt x="54959" y="0"/>
                  </a:cubicBezTo>
                  <a:lnTo>
                    <a:pt x="1972165" y="0"/>
                  </a:lnTo>
                  <a:cubicBezTo>
                    <a:pt x="2002549" y="0"/>
                    <a:pt x="2027132" y="27940"/>
                    <a:pt x="2027132" y="62484"/>
                  </a:cubicBezTo>
                  <a:lnTo>
                    <a:pt x="2027132" y="718439"/>
                  </a:lnTo>
                  <a:cubicBezTo>
                    <a:pt x="2027132" y="752983"/>
                    <a:pt x="2002549" y="780923"/>
                    <a:pt x="1972165" y="780923"/>
                  </a:cubicBezTo>
                  <a:lnTo>
                    <a:pt x="54959" y="780923"/>
                  </a:lnTo>
                  <a:cubicBezTo>
                    <a:pt x="24575" y="780923"/>
                    <a:pt x="0" y="752983"/>
                    <a:pt x="0" y="71843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5706781" y="2210913"/>
            <a:ext cx="1713428" cy="649341"/>
            <a:chOff x="0" y="0"/>
            <a:chExt cx="2010312" cy="76185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10311" cy="761855"/>
            </a:xfrm>
            <a:custGeom>
              <a:avLst/>
              <a:gdLst/>
              <a:ahLst/>
              <a:cxnLst/>
              <a:rect r="r" b="b" t="t" l="l"/>
              <a:pathLst>
                <a:path h="761855" w="2010311">
                  <a:moveTo>
                    <a:pt x="0" y="0"/>
                  </a:moveTo>
                  <a:lnTo>
                    <a:pt x="2010311" y="0"/>
                  </a:lnTo>
                  <a:lnTo>
                    <a:pt x="2010311" y="761855"/>
                  </a:lnTo>
                  <a:lnTo>
                    <a:pt x="0" y="761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-13691" b="-845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010312" cy="7999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9. Rasgo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57075" y="3022586"/>
            <a:ext cx="2855707" cy="389604"/>
            <a:chOff x="0" y="0"/>
            <a:chExt cx="3350513" cy="45711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350518" cy="457110"/>
            </a:xfrm>
            <a:custGeom>
              <a:avLst/>
              <a:gdLst/>
              <a:ahLst/>
              <a:cxnLst/>
              <a:rect r="r" b="b" t="t" l="l"/>
              <a:pathLst>
                <a:path h="457110" w="3350518">
                  <a:moveTo>
                    <a:pt x="0" y="0"/>
                  </a:moveTo>
                  <a:lnTo>
                    <a:pt x="3350518" y="0"/>
                  </a:lnTo>
                  <a:lnTo>
                    <a:pt x="3350518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-13691" b="-11237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350513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■ Información general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3712792" y="3022586"/>
            <a:ext cx="2855707" cy="389604"/>
            <a:chOff x="0" y="0"/>
            <a:chExt cx="3350513" cy="4571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350518" cy="457110"/>
            </a:xfrm>
            <a:custGeom>
              <a:avLst/>
              <a:gdLst/>
              <a:ahLst/>
              <a:cxnLst/>
              <a:rect r="r" b="b" t="t" l="l"/>
              <a:pathLst>
                <a:path h="457110" w="3350518">
                  <a:moveTo>
                    <a:pt x="0" y="0"/>
                  </a:moveTo>
                  <a:lnTo>
                    <a:pt x="3350518" y="0"/>
                  </a:lnTo>
                  <a:lnTo>
                    <a:pt x="3350518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-13691" b="-11237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350513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FFC10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■ Información médica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49944" y="3582643"/>
            <a:ext cx="8581413" cy="5298501"/>
            <a:chOff x="0" y="0"/>
            <a:chExt cx="10068307" cy="621656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068262" cy="6216496"/>
            </a:xfrm>
            <a:custGeom>
              <a:avLst/>
              <a:gdLst/>
              <a:ahLst/>
              <a:cxnLst/>
              <a:rect r="r" b="b" t="t" l="l"/>
              <a:pathLst>
                <a:path h="6216496" w="10068262">
                  <a:moveTo>
                    <a:pt x="0" y="497280"/>
                  </a:moveTo>
                  <a:cubicBezTo>
                    <a:pt x="0" y="222643"/>
                    <a:pt x="174596" y="0"/>
                    <a:pt x="389965" y="0"/>
                  </a:cubicBezTo>
                  <a:lnTo>
                    <a:pt x="9678297" y="0"/>
                  </a:lnTo>
                  <a:cubicBezTo>
                    <a:pt x="9893666" y="0"/>
                    <a:pt x="10068262" y="222643"/>
                    <a:pt x="10068262" y="497280"/>
                  </a:cubicBezTo>
                  <a:lnTo>
                    <a:pt x="10068262" y="5719216"/>
                  </a:lnTo>
                  <a:cubicBezTo>
                    <a:pt x="10068262" y="5993853"/>
                    <a:pt x="9893666" y="6216496"/>
                    <a:pt x="9678297" y="6216496"/>
                  </a:cubicBezTo>
                  <a:lnTo>
                    <a:pt x="389965" y="6216496"/>
                  </a:lnTo>
                  <a:cubicBezTo>
                    <a:pt x="174596" y="6216496"/>
                    <a:pt x="0" y="5993853"/>
                    <a:pt x="0" y="5719216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1142655" y="3648321"/>
            <a:ext cx="7995992" cy="487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1989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// Crear la mascota</a:t>
            </a:r>
          </a:p>
          <a:p>
            <a:pPr algn="l">
              <a:lnSpc>
                <a:spcPts val="3581"/>
              </a:lnSpc>
            </a:pPr>
            <a:r>
              <a:rPr lang="en-US" sz="1989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Mascota</a:t>
            </a: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nueva = </a:t>
            </a:r>
            <a:r>
              <a:rPr lang="en-US" sz="1989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new</a:t>
            </a: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  <a:r>
              <a:rPr lang="en-US" sz="1989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Mascota</a:t>
            </a:r>
          </a:p>
          <a:p>
            <a:pPr algn="l">
              <a:lnSpc>
                <a:spcPts val="3581"/>
              </a:lnSpc>
            </a:pP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</a:t>
            </a:r>
          </a:p>
          <a:p>
            <a:pPr algn="l">
              <a:lnSpc>
                <a:spcPts val="3581"/>
              </a:lnSpc>
            </a:pP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id = totalMascotas + 1,</a:t>
            </a:r>
          </a:p>
          <a:p>
            <a:pPr algn="l">
              <a:lnSpc>
                <a:spcPts val="3581"/>
              </a:lnSpc>
            </a:pP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duenoUsuario = usuarioActivo,</a:t>
            </a:r>
          </a:p>
          <a:p>
            <a:pPr algn="l">
              <a:lnSpc>
                <a:spcPts val="3581"/>
              </a:lnSpc>
            </a:pP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nombre = n, especie = esp, raza = rz, color = cl,</a:t>
            </a:r>
          </a:p>
          <a:p>
            <a:pPr algn="l">
              <a:lnSpc>
                <a:spcPts val="3581"/>
              </a:lnSpc>
            </a:pP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sangre = sg, alergias = al, vacunas = vc,</a:t>
            </a:r>
          </a:p>
          <a:p>
            <a:pPr algn="l">
              <a:lnSpc>
                <a:spcPts val="3581"/>
              </a:lnSpc>
            </a:pP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condicion = cd, rasgoCaract = rg,</a:t>
            </a:r>
          </a:p>
          <a:p>
            <a:pPr algn="l">
              <a:lnSpc>
                <a:spcPts val="3581"/>
              </a:lnSpc>
            </a:pP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citasMedicas = </a:t>
            </a:r>
            <a:r>
              <a:rPr lang="en-US" sz="1989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"Sin citas..."</a:t>
            </a: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,</a:t>
            </a:r>
          </a:p>
          <a:p>
            <a:pPr algn="l">
              <a:lnSpc>
                <a:spcPts val="3581"/>
              </a:lnSpc>
            </a:pP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extraviada = </a:t>
            </a:r>
            <a:r>
              <a:rPr lang="en-US" sz="1989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false</a:t>
            </a:r>
          </a:p>
          <a:p>
            <a:pPr algn="l">
              <a:lnSpc>
                <a:spcPts val="3581"/>
              </a:lnSpc>
            </a:pPr>
            <a:r>
              <a:rPr lang="en-US" sz="1989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};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995356" y="3419312"/>
            <a:ext cx="7424853" cy="327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2300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Lógica del registro:</a:t>
            </a:r>
          </a:p>
          <a:p>
            <a:pPr algn="l">
              <a:lnSpc>
                <a:spcPts val="4417"/>
              </a:lnSpc>
            </a:pPr>
            <a:r>
              <a:rPr lang="en-US" sz="2300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do-while</a:t>
            </a: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externo permite registrar </a:t>
            </a:r>
            <a:r>
              <a:rPr lang="en-US" sz="2300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múltiples mascotas</a:t>
            </a: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seguidas.</a:t>
            </a:r>
          </a:p>
          <a:p>
            <a:pPr algn="l">
              <a:lnSpc>
                <a:spcPts val="4417"/>
              </a:lnSpc>
            </a:pP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Cada paso usa </a:t>
            </a:r>
            <a:r>
              <a:rPr lang="en-US" sz="2300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ObtenerEntrada()</a:t>
            </a: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con navegación </a:t>
            </a:r>
            <a:r>
              <a:rPr lang="en-US" sz="2300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'&lt;'</a:t>
            </a: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y </a:t>
            </a:r>
            <a:r>
              <a:rPr lang="en-US" sz="2300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'/'</a:t>
            </a: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  <a:p>
            <a:pPr algn="l">
              <a:lnSpc>
                <a:spcPts val="4417"/>
              </a:lnSpc>
            </a:pP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El </a:t>
            </a:r>
            <a:r>
              <a:rPr lang="en-US" sz="2300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id</a:t>
            </a: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= </a:t>
            </a:r>
            <a:r>
              <a:rPr lang="en-US" sz="2300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totalMascotas + 1</a:t>
            </a: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 </a:t>
            </a:r>
            <a:r>
              <a:rPr lang="en-US" sz="2300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duenoUsuario</a:t>
            </a: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= </a:t>
            </a:r>
            <a:r>
              <a:rPr lang="en-US" sz="2300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usuarioActivo</a:t>
            </a: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  <a:p>
            <a:pPr algn="l">
              <a:lnSpc>
                <a:spcPts val="4417"/>
              </a:lnSpc>
            </a:pP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Al final pregunta </a:t>
            </a:r>
            <a:r>
              <a:rPr lang="en-US" sz="2300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"si/no"</a:t>
            </a:r>
            <a:r>
              <a:rPr lang="en-US" sz="230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para otra mascota.</a:t>
            </a:r>
          </a:p>
        </p:txBody>
      </p:sp>
    </p:spTree>
  </p:cSld>
  <p:clrMapOvr>
    <a:masterClrMapping/>
  </p:clrMapOvr>
  <p:transition spd="fast">
    <p:wipe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2571245"/>
            <a:ext cx="5069388" cy="1858778"/>
            <a:chOff x="0" y="0"/>
            <a:chExt cx="5713882" cy="2095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884" cy="2095091"/>
            </a:xfrm>
            <a:custGeom>
              <a:avLst/>
              <a:gdLst/>
              <a:ahLst/>
              <a:cxnLst/>
              <a:rect r="r" b="b" t="t" l="l"/>
              <a:pathLst>
                <a:path h="2095091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2095091"/>
                  </a:lnTo>
                  <a:lnTo>
                    <a:pt x="0" y="2095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38125"/>
              <a:ext cx="5713882" cy="233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48"/>
                </a:lnSpc>
              </a:pPr>
              <a:r>
                <a:rPr lang="en-US" sz="10797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4767981"/>
            <a:ext cx="2027757" cy="67594"/>
            <a:chOff x="0" y="0"/>
            <a:chExt cx="2285556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5492" cy="76200"/>
            </a:xfrm>
            <a:custGeom>
              <a:avLst/>
              <a:gdLst/>
              <a:ahLst/>
              <a:cxnLst/>
              <a:rect r="r" b="b" t="t" l="l"/>
              <a:pathLst>
                <a:path h="76200" w="2285492">
                  <a:moveTo>
                    <a:pt x="0" y="0"/>
                  </a:moveTo>
                  <a:lnTo>
                    <a:pt x="2285492" y="0"/>
                  </a:lnTo>
                  <a:lnTo>
                    <a:pt x="228549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5274918"/>
            <a:ext cx="13518374" cy="844894"/>
            <a:chOff x="0" y="0"/>
            <a:chExt cx="15237028" cy="9523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3" cy="952314"/>
            </a:xfrm>
            <a:custGeom>
              <a:avLst/>
              <a:gdLst/>
              <a:ahLst/>
              <a:cxnLst/>
              <a:rect r="r" b="b" t="t" l="l"/>
              <a:pathLst>
                <a:path h="95231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5237028" cy="1047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0"/>
                </a:lnSpc>
              </a:pPr>
              <a:r>
                <a:rPr lang="en-US" sz="404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Expediente Médico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6288802"/>
            <a:ext cx="11828575" cy="506936"/>
            <a:chOff x="0" y="0"/>
            <a:chExt cx="13332396" cy="571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571388"/>
            </a:xfrm>
            <a:custGeom>
              <a:avLst/>
              <a:gdLst/>
              <a:ahLst/>
              <a:cxnLst/>
              <a:rect r="r" b="b" t="t" l="l"/>
              <a:pathLst>
                <a:path h="571388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1" r="0" b="-4046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332396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>
                  <a:solidFill>
                    <a:srgbClr val="B4B4B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Historial y citas veterinarias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06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EXPEDIENTE MÉDICO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18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59" y="704646"/>
            <a:ext cx="11716394" cy="889866"/>
            <a:chOff x="0" y="0"/>
            <a:chExt cx="13376939" cy="10159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76935" cy="1015980"/>
            </a:xfrm>
            <a:custGeom>
              <a:avLst/>
              <a:gdLst/>
              <a:ahLst/>
              <a:cxnLst/>
              <a:rect r="r" b="b" t="t" l="l"/>
              <a:pathLst>
                <a:path h="1015980" w="13376935">
                  <a:moveTo>
                    <a:pt x="0" y="0"/>
                  </a:moveTo>
                  <a:lnTo>
                    <a:pt x="13376935" y="0"/>
                  </a:lnTo>
                  <a:lnTo>
                    <a:pt x="13376935" y="1015980"/>
                  </a:lnTo>
                  <a:lnTo>
                    <a:pt x="0" y="10159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855" r="-13905" b="-2315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3376939" cy="1139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14"/>
                </a:lnSpc>
              </a:pPr>
              <a:r>
                <a:rPr lang="en-US" sz="35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historialMedico() — Consulta y Actualización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9" y="1583306"/>
            <a:ext cx="16988764" cy="33359"/>
            <a:chOff x="0" y="0"/>
            <a:chExt cx="19396554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96554" cy="38100"/>
            </a:xfrm>
            <a:custGeom>
              <a:avLst/>
              <a:gdLst/>
              <a:ahLst/>
              <a:cxnLst/>
              <a:rect r="r" b="b" t="t" l="l"/>
              <a:pathLst>
                <a:path h="38100" w="19396554">
                  <a:moveTo>
                    <a:pt x="0" y="0"/>
                  </a:moveTo>
                  <a:lnTo>
                    <a:pt x="19396554" y="0"/>
                  </a:lnTo>
                  <a:lnTo>
                    <a:pt x="1939655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9944" y="1875242"/>
            <a:ext cx="8289344" cy="2352161"/>
            <a:chOff x="0" y="0"/>
            <a:chExt cx="9464179" cy="26855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64256" cy="2685542"/>
            </a:xfrm>
            <a:custGeom>
              <a:avLst/>
              <a:gdLst/>
              <a:ahLst/>
              <a:cxnLst/>
              <a:rect r="r" b="b" t="t" l="l"/>
              <a:pathLst>
                <a:path h="2685542" w="9464256">
                  <a:moveTo>
                    <a:pt x="0" y="214884"/>
                  </a:moveTo>
                  <a:cubicBezTo>
                    <a:pt x="0" y="96139"/>
                    <a:pt x="84403" y="0"/>
                    <a:pt x="188652" y="0"/>
                  </a:cubicBezTo>
                  <a:lnTo>
                    <a:pt x="9275594" y="0"/>
                  </a:lnTo>
                  <a:cubicBezTo>
                    <a:pt x="9379732" y="0"/>
                    <a:pt x="9464256" y="96139"/>
                    <a:pt x="9464256" y="214884"/>
                  </a:cubicBezTo>
                  <a:lnTo>
                    <a:pt x="9464256" y="2470658"/>
                  </a:lnTo>
                  <a:cubicBezTo>
                    <a:pt x="9464256" y="2589276"/>
                    <a:pt x="9379844" y="2685542"/>
                    <a:pt x="9275594" y="2685542"/>
                  </a:cubicBezTo>
                  <a:lnTo>
                    <a:pt x="188652" y="2685542"/>
                  </a:lnTo>
                  <a:cubicBezTo>
                    <a:pt x="84403" y="2685542"/>
                    <a:pt x="0" y="2589276"/>
                    <a:pt x="0" y="2470658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50177" y="2017044"/>
            <a:ext cx="4393645" cy="400367"/>
            <a:chOff x="0" y="0"/>
            <a:chExt cx="5016349" cy="457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16351" cy="457110"/>
            </a:xfrm>
            <a:custGeom>
              <a:avLst/>
              <a:gdLst/>
              <a:ahLst/>
              <a:cxnLst/>
              <a:rect r="r" b="b" t="t" l="l"/>
              <a:pathLst>
                <a:path h="457110" w="5016351">
                  <a:moveTo>
                    <a:pt x="0" y="0"/>
                  </a:moveTo>
                  <a:lnTo>
                    <a:pt x="5016351" y="0"/>
                  </a:lnTo>
                  <a:lnTo>
                    <a:pt x="5016351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-13905" b="-1935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016349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PASO 1: LISTAR MASCOTAS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50177" y="2369830"/>
            <a:ext cx="7688879" cy="120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183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for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</a:t>
            </a:r>
            <a:r>
              <a:rPr lang="en-US" sz="183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int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i = 0; i &lt; totalMascotas; i++)</a:t>
            </a:r>
          </a:p>
          <a:p>
            <a:pPr algn="l">
              <a:lnSpc>
                <a:spcPts val="3310"/>
              </a:lnSpc>
            </a:pP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83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(mascotas[i].duenoUsuario == usuarioActivo)</a:t>
            </a:r>
          </a:p>
          <a:p>
            <a:pPr algn="l">
              <a:lnSpc>
                <a:spcPts val="3310"/>
              </a:lnSpc>
            </a:pP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Console.WriteLine(</a:t>
            </a:r>
            <a:r>
              <a:rPr lang="en-US" sz="1838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$"ID: {mascotas[i].id} | {mascotas[i].nombre}"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64003" y="1875242"/>
            <a:ext cx="8289344" cy="2352161"/>
            <a:chOff x="0" y="0"/>
            <a:chExt cx="9464179" cy="26855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64256" cy="2685542"/>
            </a:xfrm>
            <a:custGeom>
              <a:avLst/>
              <a:gdLst/>
              <a:ahLst/>
              <a:cxnLst/>
              <a:rect r="r" b="b" t="t" l="l"/>
              <a:pathLst>
                <a:path h="2685542" w="9464256">
                  <a:moveTo>
                    <a:pt x="0" y="214884"/>
                  </a:moveTo>
                  <a:cubicBezTo>
                    <a:pt x="0" y="96139"/>
                    <a:pt x="84403" y="0"/>
                    <a:pt x="188652" y="0"/>
                  </a:cubicBezTo>
                  <a:lnTo>
                    <a:pt x="9275594" y="0"/>
                  </a:lnTo>
                  <a:cubicBezTo>
                    <a:pt x="9379732" y="0"/>
                    <a:pt x="9464256" y="96139"/>
                    <a:pt x="9464256" y="214884"/>
                  </a:cubicBezTo>
                  <a:lnTo>
                    <a:pt x="9464256" y="2470658"/>
                  </a:lnTo>
                  <a:cubicBezTo>
                    <a:pt x="9464256" y="2589276"/>
                    <a:pt x="9379844" y="2685542"/>
                    <a:pt x="9275594" y="2685542"/>
                  </a:cubicBezTo>
                  <a:lnTo>
                    <a:pt x="188652" y="2685542"/>
                  </a:lnTo>
                  <a:cubicBezTo>
                    <a:pt x="84403" y="2685542"/>
                    <a:pt x="0" y="2589276"/>
                    <a:pt x="0" y="2470658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864235" y="2017044"/>
            <a:ext cx="4393645" cy="400367"/>
            <a:chOff x="0" y="0"/>
            <a:chExt cx="5016349" cy="457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16351" cy="457110"/>
            </a:xfrm>
            <a:custGeom>
              <a:avLst/>
              <a:gdLst/>
              <a:ahLst/>
              <a:cxnLst/>
              <a:rect r="r" b="b" t="t" l="l"/>
              <a:pathLst>
                <a:path h="457110" w="5016351">
                  <a:moveTo>
                    <a:pt x="0" y="0"/>
                  </a:moveTo>
                  <a:lnTo>
                    <a:pt x="5016351" y="0"/>
                  </a:lnTo>
                  <a:lnTo>
                    <a:pt x="5016351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-13905" b="-19356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016349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PASO 2: SUBMENÚ (5 OPCIONES)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864235" y="2355576"/>
            <a:ext cx="7688879" cy="150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210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1.</a:t>
            </a:r>
            <a:r>
              <a:rPr lang="en-US" sz="210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Agregar vacuna  </a:t>
            </a:r>
            <a:r>
              <a:rPr lang="en-US" sz="210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2.</a:t>
            </a:r>
            <a:r>
              <a:rPr lang="en-US" sz="210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Agregar alergia</a:t>
            </a:r>
          </a:p>
          <a:p>
            <a:pPr algn="l">
              <a:lnSpc>
                <a:spcPts val="4035"/>
              </a:lnSpc>
            </a:pPr>
            <a:r>
              <a:rPr lang="en-US" sz="210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3.</a:t>
            </a:r>
            <a:r>
              <a:rPr lang="en-US" sz="210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Agregar condición  </a:t>
            </a:r>
            <a:r>
              <a:rPr lang="en-US" sz="210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4.</a:t>
            </a:r>
            <a:r>
              <a:rPr lang="en-US" sz="210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Agregar cita</a:t>
            </a:r>
          </a:p>
          <a:p>
            <a:pPr algn="l">
              <a:lnSpc>
                <a:spcPts val="4035"/>
              </a:lnSpc>
            </a:pPr>
            <a:r>
              <a:rPr lang="en-US" sz="2101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5.</a:t>
            </a:r>
            <a:r>
              <a:rPr lang="en-US" sz="2101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Volver al menú principal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49944" y="4544356"/>
            <a:ext cx="17003412" cy="4187169"/>
            <a:chOff x="0" y="0"/>
            <a:chExt cx="19413278" cy="47806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413279" cy="4780534"/>
            </a:xfrm>
            <a:custGeom>
              <a:avLst/>
              <a:gdLst/>
              <a:ahLst/>
              <a:cxnLst/>
              <a:rect r="r" b="b" t="t" l="l"/>
              <a:pathLst>
                <a:path h="4780534" w="19413279">
                  <a:moveTo>
                    <a:pt x="0" y="382397"/>
                  </a:moveTo>
                  <a:cubicBezTo>
                    <a:pt x="0" y="171196"/>
                    <a:pt x="150297" y="0"/>
                    <a:pt x="335715" y="0"/>
                  </a:cubicBezTo>
                  <a:lnTo>
                    <a:pt x="19077564" y="0"/>
                  </a:lnTo>
                  <a:cubicBezTo>
                    <a:pt x="19262982" y="0"/>
                    <a:pt x="19413279" y="171196"/>
                    <a:pt x="19413279" y="382397"/>
                  </a:cubicBezTo>
                  <a:lnTo>
                    <a:pt x="19413279" y="4398137"/>
                  </a:lnTo>
                  <a:cubicBezTo>
                    <a:pt x="19413279" y="4609338"/>
                    <a:pt x="19262982" y="4780534"/>
                    <a:pt x="19077564" y="4780534"/>
                  </a:cubicBezTo>
                  <a:lnTo>
                    <a:pt x="335715" y="4780534"/>
                  </a:lnTo>
                  <a:cubicBezTo>
                    <a:pt x="150297" y="4780661"/>
                    <a:pt x="0" y="4609338"/>
                    <a:pt x="0" y="4398137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50177" y="4719517"/>
            <a:ext cx="5858197" cy="400367"/>
            <a:chOff x="0" y="0"/>
            <a:chExt cx="6688470" cy="457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88468" cy="457110"/>
            </a:xfrm>
            <a:custGeom>
              <a:avLst/>
              <a:gdLst/>
              <a:ahLst/>
              <a:cxnLst/>
              <a:rect r="r" b="b" t="t" l="l"/>
              <a:pathLst>
                <a:path h="457110" w="6688468">
                  <a:moveTo>
                    <a:pt x="0" y="0"/>
                  </a:moveTo>
                  <a:lnTo>
                    <a:pt x="6688468" y="0"/>
                  </a:lnTo>
                  <a:lnTo>
                    <a:pt x="6688468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-13905" b="-2747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688470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PASO 3: ACTUALIZAR DATOS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50177" y="5105674"/>
            <a:ext cx="7908565" cy="326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1838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// Opción 1: agregar vacuna</a:t>
            </a:r>
          </a:p>
          <a:p>
            <a:pPr algn="l">
              <a:lnSpc>
                <a:spcPts val="3310"/>
              </a:lnSpc>
            </a:pPr>
            <a:r>
              <a:rPr lang="en-US" sz="183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string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v = ObtenerEntrada(</a:t>
            </a:r>
            <a:r>
              <a:rPr lang="en-US" sz="1838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"Vacuna: "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310"/>
              </a:lnSpc>
            </a:pP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mascotas[i].vacunas += </a:t>
            </a:r>
            <a:r>
              <a:rPr lang="en-US" sz="1838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 | "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+ v;</a:t>
            </a:r>
          </a:p>
          <a:p>
            <a:pPr algn="l">
              <a:lnSpc>
                <a:spcPts val="3310"/>
              </a:lnSpc>
            </a:pPr>
          </a:p>
          <a:p>
            <a:pPr algn="l">
              <a:lnSpc>
                <a:spcPts val="3310"/>
              </a:lnSpc>
            </a:pPr>
            <a:r>
              <a:rPr lang="en-US" sz="1838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// Opción 4: agregar cita</a:t>
            </a:r>
          </a:p>
          <a:p>
            <a:pPr algn="l">
              <a:lnSpc>
                <a:spcPts val="3310"/>
              </a:lnSpc>
            </a:pPr>
            <a:r>
              <a:rPr lang="en-US" sz="183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string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f = ObtenerEntrada(</a:t>
            </a:r>
            <a:r>
              <a:rPr lang="en-US" sz="1838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"Fecha: "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310"/>
              </a:lnSpc>
            </a:pPr>
            <a:r>
              <a:rPr lang="en-US" sz="1838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string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o = ObtenerEntrada(</a:t>
            </a:r>
            <a:r>
              <a:rPr lang="en-US" sz="1838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"Obs: "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310"/>
              </a:lnSpc>
            </a:pP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m[i].citasMedicas += </a:t>
            </a:r>
            <a:r>
              <a:rPr lang="en-US" sz="1838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$"\n&gt; [{f}] {o}"</a:t>
            </a:r>
            <a:r>
              <a:rPr lang="en-US" sz="1838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71327" y="4557592"/>
            <a:ext cx="7981787" cy="3349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236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Lógica de actualización:</a:t>
            </a:r>
          </a:p>
          <a:p>
            <a:pPr algn="l">
              <a:lnSpc>
                <a:spcPts val="4539"/>
              </a:lnSpc>
            </a:pPr>
            <a:r>
              <a:rPr lang="en-US" sz="236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Vacunas, alergias y condiciones se </a:t>
            </a:r>
            <a:r>
              <a:rPr lang="en-US" sz="236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concatenan</a:t>
            </a:r>
            <a:r>
              <a:rPr lang="en-US" sz="236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con </a:t>
            </a:r>
            <a:r>
              <a:rPr lang="en-US" sz="236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" | "</a:t>
            </a:r>
            <a:r>
              <a:rPr lang="en-US" sz="236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como separador.</a:t>
            </a:r>
          </a:p>
          <a:p>
            <a:pPr algn="l">
              <a:lnSpc>
                <a:spcPts val="4539"/>
              </a:lnSpc>
            </a:pPr>
            <a:r>
              <a:rPr lang="en-US" sz="236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Citas usan formato: </a:t>
            </a:r>
            <a:r>
              <a:rPr lang="en-US" sz="236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\n&gt; [fecha] Observaciones: texto</a:t>
            </a:r>
            <a:r>
              <a:rPr lang="en-US" sz="236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  <a:p>
            <a:pPr algn="l">
              <a:lnSpc>
                <a:spcPts val="4539"/>
              </a:lnSpc>
            </a:pPr>
            <a:r>
              <a:rPr lang="en-US" sz="236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Primera cita: reemplaza </a:t>
            </a:r>
            <a:r>
              <a:rPr lang="en-US" sz="236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"Sin citas registradas aún."</a:t>
            </a:r>
            <a:r>
              <a:rPr lang="en-US" sz="236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por vacío.</a:t>
            </a:r>
          </a:p>
        </p:txBody>
      </p:sp>
    </p:spTree>
  </p:cSld>
  <p:clrMapOvr>
    <a:masterClrMapping/>
  </p:clrMapOvr>
  <p:transition spd="fast">
    <p:wipe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2571245"/>
            <a:ext cx="5140074" cy="1884697"/>
            <a:chOff x="0" y="0"/>
            <a:chExt cx="5713882" cy="2095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884" cy="2095091"/>
            </a:xfrm>
            <a:custGeom>
              <a:avLst/>
              <a:gdLst/>
              <a:ahLst/>
              <a:cxnLst/>
              <a:rect r="r" b="b" t="t" l="l"/>
              <a:pathLst>
                <a:path h="2095091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2095091"/>
                  </a:lnTo>
                  <a:lnTo>
                    <a:pt x="0" y="2095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38125"/>
              <a:ext cx="5713882" cy="233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48"/>
                </a:lnSpc>
              </a:pPr>
              <a:r>
                <a:rPr lang="en-US" sz="10797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4798612"/>
            <a:ext cx="2056032" cy="68536"/>
            <a:chOff x="0" y="0"/>
            <a:chExt cx="2285556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5492" cy="76200"/>
            </a:xfrm>
            <a:custGeom>
              <a:avLst/>
              <a:gdLst/>
              <a:ahLst/>
              <a:cxnLst/>
              <a:rect r="r" b="b" t="t" l="l"/>
              <a:pathLst>
                <a:path h="76200" w="2285492">
                  <a:moveTo>
                    <a:pt x="0" y="0"/>
                  </a:moveTo>
                  <a:lnTo>
                    <a:pt x="2285492" y="0"/>
                  </a:lnTo>
                  <a:lnTo>
                    <a:pt x="228549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5312617"/>
            <a:ext cx="13706871" cy="856675"/>
            <a:chOff x="0" y="0"/>
            <a:chExt cx="15237028" cy="9523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3" cy="952314"/>
            </a:xfrm>
            <a:custGeom>
              <a:avLst/>
              <a:gdLst/>
              <a:ahLst/>
              <a:cxnLst/>
              <a:rect r="r" b="b" t="t" l="l"/>
              <a:pathLst>
                <a:path h="95231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5237028" cy="1047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0"/>
                </a:lnSpc>
              </a:pPr>
              <a:r>
                <a:rPr lang="en-US" sz="404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Reportes de Mascotas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6340639"/>
            <a:ext cx="11993509" cy="514005"/>
            <a:chOff x="0" y="0"/>
            <a:chExt cx="13332396" cy="571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571388"/>
            </a:xfrm>
            <a:custGeom>
              <a:avLst/>
              <a:gdLst/>
              <a:ahLst/>
              <a:cxnLst/>
              <a:rect r="r" b="b" t="t" l="l"/>
              <a:pathLst>
                <a:path h="571388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1" r="0" b="-4046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332396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>
                  <a:solidFill>
                    <a:srgbClr val="B4B4B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Desaparecidas y reporte público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07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REPORTES DE MASCOTAS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20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785660"/>
            <a:ext cx="12856235" cy="599961"/>
            <a:chOff x="0" y="0"/>
            <a:chExt cx="17141647" cy="799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41653" cy="799944"/>
            </a:xfrm>
            <a:custGeom>
              <a:avLst/>
              <a:gdLst/>
              <a:ahLst/>
              <a:cxnLst/>
              <a:rect r="r" b="b" t="t" l="l"/>
              <a:pathLst>
                <a:path h="799944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799944"/>
                  </a:lnTo>
                  <a:lnTo>
                    <a:pt x="0" y="799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7141647" cy="9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14"/>
                </a:lnSpc>
              </a:pPr>
              <a:r>
                <a:rPr lang="en-US" sz="35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Reportar Desaparecida + Reporte Público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079" y="1457039"/>
            <a:ext cx="16570262" cy="28565"/>
            <a:chOff x="0" y="0"/>
            <a:chExt cx="2209368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9944" y="1707023"/>
            <a:ext cx="8085144" cy="4451756"/>
            <a:chOff x="0" y="0"/>
            <a:chExt cx="10780192" cy="59356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0141" cy="5935562"/>
            </a:xfrm>
            <a:custGeom>
              <a:avLst/>
              <a:gdLst/>
              <a:ahLst/>
              <a:cxnLst/>
              <a:rect r="r" b="b" t="t" l="l"/>
              <a:pathLst>
                <a:path h="5935562" w="10780141">
                  <a:moveTo>
                    <a:pt x="0" y="474805"/>
                  </a:moveTo>
                  <a:cubicBezTo>
                    <a:pt x="0" y="212543"/>
                    <a:pt x="191643" y="0"/>
                    <a:pt x="428117" y="0"/>
                  </a:cubicBezTo>
                  <a:lnTo>
                    <a:pt x="10352024" y="0"/>
                  </a:lnTo>
                  <a:cubicBezTo>
                    <a:pt x="10588498" y="0"/>
                    <a:pt x="10780141" y="212543"/>
                    <a:pt x="10780141" y="474805"/>
                  </a:cubicBezTo>
                  <a:lnTo>
                    <a:pt x="10780141" y="5460756"/>
                  </a:lnTo>
                  <a:cubicBezTo>
                    <a:pt x="10780141" y="5723019"/>
                    <a:pt x="10588498" y="5935562"/>
                    <a:pt x="10352024" y="5935562"/>
                  </a:cubicBezTo>
                  <a:lnTo>
                    <a:pt x="428117" y="5935562"/>
                  </a:lnTo>
                  <a:cubicBezTo>
                    <a:pt x="191643" y="5935700"/>
                    <a:pt x="0" y="5723019"/>
                    <a:pt x="0" y="5460756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42781" y="1857013"/>
            <a:ext cx="5713886" cy="342833"/>
            <a:chOff x="0" y="0"/>
            <a:chExt cx="7618514" cy="457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18512" cy="457111"/>
            </a:xfrm>
            <a:custGeom>
              <a:avLst/>
              <a:gdLst/>
              <a:ahLst/>
              <a:cxnLst/>
              <a:rect r="r" b="b" t="t" l="l"/>
              <a:pathLst>
                <a:path h="457111" w="7618512">
                  <a:moveTo>
                    <a:pt x="0" y="0"/>
                  </a:moveTo>
                  <a:lnTo>
                    <a:pt x="7618512" y="0"/>
                  </a:lnTo>
                  <a:lnTo>
                    <a:pt x="7618512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618514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F44336"/>
                  </a:solidFill>
                  <a:latin typeface="Literata"/>
                  <a:ea typeface="Literata"/>
                  <a:cs typeface="Literata"/>
                  <a:sym typeface="Literata"/>
                </a:rPr>
                <a:t>REPORTARMASCOTADESAPARECIDA()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2781" y="2180777"/>
            <a:ext cx="7499471" cy="308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// Cambiar estado de extraviada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(!mascotas[i].extraviada)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 mascotas[i].extraviada = </a:t>
            </a:r>
            <a:r>
              <a:rPr lang="en-US" sz="1974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true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 mascotasExtraviadas++; 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MostrarExito(</a:t>
            </a:r>
            <a:r>
              <a:rPr lang="en-US" sz="1974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"DESAPARECIDA"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 }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else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 mascotas[i].extraviada = </a:t>
            </a:r>
            <a:r>
              <a:rPr lang="en-US" sz="1974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false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 mascotasExtraviadas--;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MostrarExito(</a:t>
            </a:r>
            <a:r>
              <a:rPr lang="en-US" sz="1974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"EN CASA"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 }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49340" y="1707023"/>
            <a:ext cx="8085144" cy="4451756"/>
            <a:chOff x="0" y="0"/>
            <a:chExt cx="10780192" cy="593567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80141" cy="5935562"/>
            </a:xfrm>
            <a:custGeom>
              <a:avLst/>
              <a:gdLst/>
              <a:ahLst/>
              <a:cxnLst/>
              <a:rect r="r" b="b" t="t" l="l"/>
              <a:pathLst>
                <a:path h="5935562" w="10780141">
                  <a:moveTo>
                    <a:pt x="0" y="474805"/>
                  </a:moveTo>
                  <a:cubicBezTo>
                    <a:pt x="0" y="212543"/>
                    <a:pt x="191643" y="0"/>
                    <a:pt x="428117" y="0"/>
                  </a:cubicBezTo>
                  <a:lnTo>
                    <a:pt x="10352024" y="0"/>
                  </a:lnTo>
                  <a:cubicBezTo>
                    <a:pt x="10588498" y="0"/>
                    <a:pt x="10780141" y="212543"/>
                    <a:pt x="10780141" y="474805"/>
                  </a:cubicBezTo>
                  <a:lnTo>
                    <a:pt x="10780141" y="5460756"/>
                  </a:lnTo>
                  <a:cubicBezTo>
                    <a:pt x="10780141" y="5723019"/>
                    <a:pt x="10588498" y="5935562"/>
                    <a:pt x="10352024" y="5935562"/>
                  </a:cubicBezTo>
                  <a:lnTo>
                    <a:pt x="428117" y="5935562"/>
                  </a:lnTo>
                  <a:cubicBezTo>
                    <a:pt x="191643" y="5935700"/>
                    <a:pt x="0" y="5723019"/>
                    <a:pt x="0" y="5460756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642177" y="1857013"/>
            <a:ext cx="5713886" cy="342833"/>
            <a:chOff x="0" y="0"/>
            <a:chExt cx="7618514" cy="457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18512" cy="457111"/>
            </a:xfrm>
            <a:custGeom>
              <a:avLst/>
              <a:gdLst/>
              <a:ahLst/>
              <a:cxnLst/>
              <a:rect r="r" b="b" t="t" l="l"/>
              <a:pathLst>
                <a:path h="457111" w="7618512">
                  <a:moveTo>
                    <a:pt x="0" y="0"/>
                  </a:moveTo>
                  <a:lnTo>
                    <a:pt x="7618512" y="0"/>
                  </a:lnTo>
                  <a:lnTo>
                    <a:pt x="7618512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18514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FFC107"/>
                  </a:solidFill>
                  <a:latin typeface="Literata"/>
                  <a:ea typeface="Literata"/>
                  <a:cs typeface="Literata"/>
                  <a:sym typeface="Literata"/>
                </a:rPr>
                <a:t>MASCOTASDESAPARECIDAS()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642177" y="2180777"/>
            <a:ext cx="7617123" cy="398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(mascotasExtraviadas == 0)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MostrarExito(</a:t>
            </a:r>
            <a:r>
              <a:rPr lang="en-US" sz="1974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"No hay desaparecidas"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else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9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for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</a:t>
            </a:r>
            <a:r>
              <a:rPr lang="en-US" sz="19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int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i = 0; i &lt; totalMascotas; i++)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</a:t>
            </a:r>
            <a:r>
              <a:rPr lang="en-US" sz="1974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(mascotas[i].extraviada)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  Console.WriteLine(</a:t>
            </a:r>
            <a:r>
              <a:rPr lang="en-US" sz="1974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$"ID:{mascotas[i].id}"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+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      </a:t>
            </a:r>
            <a:r>
              <a:rPr lang="en-US" sz="1974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$" {mascotas[i].nombre} - {mascotas[i].duenoUsuario}"</a:t>
            </a: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554"/>
              </a:lnSpc>
            </a:pPr>
            <a:r>
              <a:rPr lang="en-US" sz="1974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}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9944" y="6572945"/>
            <a:ext cx="16570262" cy="371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Lógica de reportar desaparecida:</a:t>
            </a:r>
            <a:r>
              <a:rPr lang="en-US" sz="20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Funciona como un </a:t>
            </a:r>
            <a:r>
              <a:rPr lang="en-US" sz="20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toggle</a:t>
            </a:r>
            <a:r>
              <a:rPr lang="en-US" sz="20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(interruptor). Si la mascota está en casa (</a:t>
            </a:r>
            <a:r>
              <a:rPr lang="en-US" sz="20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extraviada == false</a:t>
            </a:r>
            <a:r>
              <a:rPr lang="en-US" sz="20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), la marca como desaparecida y suma al contador. Si ya está desaparecida, la marca como en casa y resta del contador. Solo muestra las mascotas del </a:t>
            </a:r>
            <a:r>
              <a:rPr lang="en-US" sz="20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usuarioActivo</a:t>
            </a:r>
            <a:r>
              <a:rPr lang="en-US" sz="20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  <a:p>
            <a:pPr algn="l">
              <a:lnSpc>
                <a:spcPts val="3887"/>
              </a:lnSpc>
            </a:pPr>
            <a:r>
              <a:rPr lang="en-US" sz="20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Lógica del reporte público:</a:t>
            </a:r>
            <a:r>
              <a:rPr lang="en-US" sz="20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Es una función </a:t>
            </a:r>
            <a:r>
              <a:rPr lang="en-US" sz="2024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pública</a:t>
            </a:r>
            <a:r>
              <a:rPr lang="en-US" sz="20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que muestra TODAS las mascotas desaparecidas de TODOS los usuarios. Primero verifica si hay desaparecidas (</a:t>
            </a:r>
            <a:r>
              <a:rPr lang="en-US" sz="20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mascotasExtraviadas == 0</a:t>
            </a:r>
            <a:r>
              <a:rPr lang="en-US" sz="20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). Si hay, recorre todo el array imprimiendo solo las que tienen </a:t>
            </a:r>
            <a:r>
              <a:rPr lang="en-US" sz="2024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extraviada == true</a:t>
            </a:r>
            <a:r>
              <a:rPr lang="en-US" sz="2024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 Muestra información útil para identificar la mascota: nombre, especie, raza, rasgo característico y dueño.</a:t>
            </a:r>
          </a:p>
        </p:txBody>
      </p:sp>
    </p:spTree>
  </p:cSld>
  <p:clrMapOvr>
    <a:masterClrMapping/>
  </p:clrMapOvr>
  <p:transition spd="fast">
    <p:wipe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2571245"/>
            <a:ext cx="5216018" cy="1912543"/>
            <a:chOff x="0" y="0"/>
            <a:chExt cx="5713882" cy="2095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884" cy="2095091"/>
            </a:xfrm>
            <a:custGeom>
              <a:avLst/>
              <a:gdLst/>
              <a:ahLst/>
              <a:cxnLst/>
              <a:rect r="r" b="b" t="t" l="l"/>
              <a:pathLst>
                <a:path h="2095091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2095091"/>
                  </a:lnTo>
                  <a:lnTo>
                    <a:pt x="0" y="2095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38125"/>
              <a:ext cx="5713882" cy="233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48"/>
                </a:lnSpc>
              </a:pPr>
              <a:r>
                <a:rPr lang="en-US" sz="10797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08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4831521"/>
            <a:ext cx="2086409" cy="69549"/>
            <a:chOff x="0" y="0"/>
            <a:chExt cx="2285556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5492" cy="76200"/>
            </a:xfrm>
            <a:custGeom>
              <a:avLst/>
              <a:gdLst/>
              <a:ahLst/>
              <a:cxnLst/>
              <a:rect r="r" b="b" t="t" l="l"/>
              <a:pathLst>
                <a:path h="76200" w="2285492">
                  <a:moveTo>
                    <a:pt x="0" y="0"/>
                  </a:moveTo>
                  <a:lnTo>
                    <a:pt x="2285492" y="0"/>
                  </a:lnTo>
                  <a:lnTo>
                    <a:pt x="228549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5353121"/>
            <a:ext cx="13909389" cy="869332"/>
            <a:chOff x="0" y="0"/>
            <a:chExt cx="15237028" cy="9523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3" cy="952314"/>
            </a:xfrm>
            <a:custGeom>
              <a:avLst/>
              <a:gdLst/>
              <a:ahLst/>
              <a:cxnLst/>
              <a:rect r="r" b="b" t="t" l="l"/>
              <a:pathLst>
                <a:path h="95231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5237028" cy="1047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0"/>
                </a:lnSpc>
              </a:pPr>
              <a:r>
                <a:rPr lang="en-US" sz="404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Sistema PetPoints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6396331"/>
            <a:ext cx="12170712" cy="521599"/>
            <a:chOff x="0" y="0"/>
            <a:chExt cx="13332396" cy="571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571388"/>
            </a:xfrm>
            <a:custGeom>
              <a:avLst/>
              <a:gdLst/>
              <a:ahLst/>
              <a:cxnLst/>
              <a:rect r="r" b="b" t="t" l="l"/>
              <a:pathLst>
                <a:path h="571388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1" r="0" b="-4046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332396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>
                  <a:solidFill>
                    <a:srgbClr val="B4B4B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Recompensas y canjes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08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SISTEMA PETPOINTS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22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785660"/>
            <a:ext cx="11427771" cy="599961"/>
            <a:chOff x="0" y="0"/>
            <a:chExt cx="15237028" cy="799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37023" cy="799944"/>
            </a:xfrm>
            <a:custGeom>
              <a:avLst/>
              <a:gdLst/>
              <a:ahLst/>
              <a:cxnLst/>
              <a:rect r="r" b="b" t="t" l="l"/>
              <a:pathLst>
                <a:path h="79994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99944"/>
                  </a:lnTo>
                  <a:lnTo>
                    <a:pt x="0" y="799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5237028" cy="9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14"/>
                </a:lnSpc>
              </a:pPr>
              <a:r>
                <a:rPr lang="en-US" sz="35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billeteraPetPoints() — Gestión de Puntos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079" y="1595171"/>
            <a:ext cx="16570262" cy="28565"/>
            <a:chOff x="0" y="0"/>
            <a:chExt cx="2209368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9869" y="2027786"/>
            <a:ext cx="5496408" cy="3115714"/>
            <a:chOff x="0" y="0"/>
            <a:chExt cx="6753478" cy="3828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53503" cy="3828415"/>
            </a:xfrm>
            <a:custGeom>
              <a:avLst/>
              <a:gdLst/>
              <a:ahLst/>
              <a:cxnLst/>
              <a:rect r="r" b="b" t="t" l="l"/>
              <a:pathLst>
                <a:path h="3828415" w="6753503">
                  <a:moveTo>
                    <a:pt x="0" y="306324"/>
                  </a:moveTo>
                  <a:cubicBezTo>
                    <a:pt x="0" y="137160"/>
                    <a:pt x="127650" y="0"/>
                    <a:pt x="285085" y="0"/>
                  </a:cubicBezTo>
                  <a:lnTo>
                    <a:pt x="6468417" y="0"/>
                  </a:lnTo>
                  <a:cubicBezTo>
                    <a:pt x="6625852" y="0"/>
                    <a:pt x="6753503" y="137160"/>
                    <a:pt x="6753503" y="306324"/>
                  </a:cubicBezTo>
                  <a:lnTo>
                    <a:pt x="6753503" y="3522091"/>
                  </a:lnTo>
                  <a:cubicBezTo>
                    <a:pt x="6753503" y="3691255"/>
                    <a:pt x="6625852" y="3828415"/>
                    <a:pt x="6468417" y="3828415"/>
                  </a:cubicBezTo>
                  <a:lnTo>
                    <a:pt x="285085" y="3828415"/>
                  </a:lnTo>
                  <a:cubicBezTo>
                    <a:pt x="127650" y="3828288"/>
                    <a:pt x="0" y="3691128"/>
                    <a:pt x="0" y="3522091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42705" y="2177777"/>
            <a:ext cx="4285412" cy="356908"/>
            <a:chOff x="0" y="0"/>
            <a:chExt cx="5713882" cy="4758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13884" cy="475877"/>
            </a:xfrm>
            <a:custGeom>
              <a:avLst/>
              <a:gdLst/>
              <a:ahLst/>
              <a:cxnLst/>
              <a:rect r="r" b="b" t="t" l="l"/>
              <a:pathLst>
                <a:path h="475877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475877"/>
                  </a:lnTo>
                  <a:lnTo>
                    <a:pt x="0" y="4758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929" r="0" b="-1819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713882" cy="513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1"/>
                </a:lnSpc>
              </a:pPr>
              <a:r>
                <a:rPr lang="en-US" sz="16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MENÚ PRINCIPAL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5608" y="2503178"/>
            <a:ext cx="4904931" cy="194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1.</a:t>
            </a: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Registrar (ganar) puntos</a:t>
            </a:r>
          </a:p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2.</a:t>
            </a: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Canjear puntos PetFind</a:t>
            </a:r>
          </a:p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3.</a:t>
            </a: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Ver puntos actuales</a:t>
            </a:r>
          </a:p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4.</a:t>
            </a: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Salir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20372" y="2027786"/>
            <a:ext cx="5496408" cy="3115714"/>
            <a:chOff x="0" y="0"/>
            <a:chExt cx="6753478" cy="38283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53503" cy="3828415"/>
            </a:xfrm>
            <a:custGeom>
              <a:avLst/>
              <a:gdLst/>
              <a:ahLst/>
              <a:cxnLst/>
              <a:rect r="r" b="b" t="t" l="l"/>
              <a:pathLst>
                <a:path h="3828415" w="6753503">
                  <a:moveTo>
                    <a:pt x="0" y="306324"/>
                  </a:moveTo>
                  <a:cubicBezTo>
                    <a:pt x="0" y="137160"/>
                    <a:pt x="127650" y="0"/>
                    <a:pt x="285085" y="0"/>
                  </a:cubicBezTo>
                  <a:lnTo>
                    <a:pt x="6468417" y="0"/>
                  </a:lnTo>
                  <a:cubicBezTo>
                    <a:pt x="6625852" y="0"/>
                    <a:pt x="6753503" y="137160"/>
                    <a:pt x="6753503" y="306324"/>
                  </a:cubicBezTo>
                  <a:lnTo>
                    <a:pt x="6753503" y="3522091"/>
                  </a:lnTo>
                  <a:cubicBezTo>
                    <a:pt x="6753503" y="3691255"/>
                    <a:pt x="6625852" y="3828415"/>
                    <a:pt x="6468417" y="3828415"/>
                  </a:cubicBezTo>
                  <a:lnTo>
                    <a:pt x="285085" y="3828415"/>
                  </a:lnTo>
                  <a:cubicBezTo>
                    <a:pt x="127650" y="3828288"/>
                    <a:pt x="0" y="3691128"/>
                    <a:pt x="0" y="3522091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4CAF5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856581" y="2177777"/>
            <a:ext cx="4285412" cy="356908"/>
            <a:chOff x="0" y="0"/>
            <a:chExt cx="5713882" cy="4758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13884" cy="475877"/>
            </a:xfrm>
            <a:custGeom>
              <a:avLst/>
              <a:gdLst/>
              <a:ahLst/>
              <a:cxnLst/>
              <a:rect r="r" b="b" t="t" l="l"/>
              <a:pathLst>
                <a:path h="475877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475877"/>
                  </a:lnTo>
                  <a:lnTo>
                    <a:pt x="0" y="4758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929" r="0" b="-1819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713882" cy="513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1"/>
                </a:lnSpc>
              </a:pPr>
              <a:r>
                <a:rPr lang="en-US" sz="1674">
                  <a:solidFill>
                    <a:srgbClr val="4CAF50"/>
                  </a:solidFill>
                  <a:latin typeface="Literata"/>
                  <a:ea typeface="Literata"/>
                  <a:cs typeface="Literata"/>
                  <a:sym typeface="Literata"/>
                </a:rPr>
                <a:t>GANAR PUNTOS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916111" y="2503178"/>
            <a:ext cx="4904931" cy="194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4CAF50"/>
                </a:solidFill>
                <a:latin typeface="Quattrocento"/>
                <a:ea typeface="Quattrocento"/>
                <a:cs typeface="Quattrocento"/>
                <a:sym typeface="Quattrocento"/>
              </a:rPr>
              <a:t>Avistamiento:</a:t>
            </a: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+150 pts</a:t>
            </a:r>
          </a:p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usuarios[i].petPoints += 150;</a:t>
            </a:r>
          </a:p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4CAF50"/>
                </a:solidFill>
                <a:latin typeface="Quattrocento"/>
                <a:ea typeface="Quattrocento"/>
                <a:cs typeface="Quattrocento"/>
                <a:sym typeface="Quattrocento"/>
              </a:rPr>
              <a:t>Mascota encontrada:</a:t>
            </a: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+300 pts</a:t>
            </a:r>
          </a:p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usuarios[i].petPoints += 300;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90885" y="2027786"/>
            <a:ext cx="5207884" cy="3115714"/>
            <a:chOff x="0" y="0"/>
            <a:chExt cx="6398966" cy="38283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99043" cy="3828415"/>
            </a:xfrm>
            <a:custGeom>
              <a:avLst/>
              <a:gdLst/>
              <a:ahLst/>
              <a:cxnLst/>
              <a:rect r="r" b="b" t="t" l="l"/>
              <a:pathLst>
                <a:path h="3828415" w="6399043">
                  <a:moveTo>
                    <a:pt x="0" y="306324"/>
                  </a:moveTo>
                  <a:cubicBezTo>
                    <a:pt x="0" y="137160"/>
                    <a:pt x="127650" y="0"/>
                    <a:pt x="285085" y="0"/>
                  </a:cubicBezTo>
                  <a:lnTo>
                    <a:pt x="6113953" y="0"/>
                  </a:lnTo>
                  <a:cubicBezTo>
                    <a:pt x="6271388" y="0"/>
                    <a:pt x="6399043" y="137160"/>
                    <a:pt x="6399043" y="306324"/>
                  </a:cubicBezTo>
                  <a:lnTo>
                    <a:pt x="6399043" y="3522091"/>
                  </a:lnTo>
                  <a:cubicBezTo>
                    <a:pt x="6399043" y="3691255"/>
                    <a:pt x="6271388" y="3828415"/>
                    <a:pt x="6113953" y="3828415"/>
                  </a:cubicBezTo>
                  <a:lnTo>
                    <a:pt x="285085" y="3828415"/>
                  </a:lnTo>
                  <a:cubicBezTo>
                    <a:pt x="127650" y="3828288"/>
                    <a:pt x="0" y="3691128"/>
                    <a:pt x="0" y="3522091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FFC10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570467" y="2177777"/>
            <a:ext cx="4285412" cy="356908"/>
            <a:chOff x="0" y="0"/>
            <a:chExt cx="5713882" cy="47587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13884" cy="475877"/>
            </a:xfrm>
            <a:custGeom>
              <a:avLst/>
              <a:gdLst/>
              <a:ahLst/>
              <a:cxnLst/>
              <a:rect r="r" b="b" t="t" l="l"/>
              <a:pathLst>
                <a:path h="475877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475877"/>
                  </a:lnTo>
                  <a:lnTo>
                    <a:pt x="0" y="4758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929" r="0" b="-18198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713882" cy="513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1"/>
                </a:lnSpc>
              </a:pPr>
              <a:r>
                <a:rPr lang="en-US" sz="1674">
                  <a:solidFill>
                    <a:srgbClr val="FFC107"/>
                  </a:solidFill>
                  <a:latin typeface="Literata"/>
                  <a:ea typeface="Literata"/>
                  <a:cs typeface="Literata"/>
                  <a:sym typeface="Literata"/>
                </a:rPr>
                <a:t>CANJEAR PUNTOS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686624" y="2503178"/>
            <a:ext cx="4616406" cy="194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FFC107"/>
                </a:solidFill>
                <a:latin typeface="Quattrocento"/>
                <a:ea typeface="Quattrocento"/>
                <a:cs typeface="Quattrocento"/>
                <a:sym typeface="Quattrocento"/>
              </a:rPr>
              <a:t>Consulta veterinaria:</a:t>
            </a: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-300 pts</a:t>
            </a:r>
          </a:p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C586C0"/>
                </a:solidFill>
                <a:latin typeface="Quattrocento"/>
                <a:ea typeface="Quattrocento"/>
                <a:cs typeface="Quattrocento"/>
                <a:sym typeface="Quattrocento"/>
              </a:rPr>
              <a:t>if</a:t>
            </a: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(petPoints &gt;= 300)</a:t>
            </a:r>
          </a:p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 petPoints -= 300;</a:t>
            </a:r>
          </a:p>
          <a:p>
            <a:pPr algn="l">
              <a:lnSpc>
                <a:spcPts val="3941"/>
              </a:lnSpc>
            </a:pPr>
            <a:r>
              <a:rPr lang="en-US" sz="2052">
                <a:solidFill>
                  <a:srgbClr val="C586C0"/>
                </a:solidFill>
                <a:latin typeface="Quattrocento"/>
                <a:ea typeface="Quattrocento"/>
                <a:cs typeface="Quattrocento"/>
                <a:sym typeface="Quattrocento"/>
              </a:rPr>
              <a:t>else</a:t>
            </a: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MostrarError(</a:t>
            </a:r>
            <a:r>
              <a:rPr lang="en-US" sz="2052">
                <a:solidFill>
                  <a:srgbClr val="CE9178"/>
                </a:solidFill>
                <a:latin typeface="Quattrocento"/>
                <a:ea typeface="Quattrocento"/>
                <a:cs typeface="Quattrocento"/>
                <a:sym typeface="Quattrocento"/>
              </a:rPr>
              <a:t>"Saldo insuficiente"</a:t>
            </a:r>
            <a:r>
              <a:rPr lang="en-US" sz="2052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);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7079" y="5794286"/>
            <a:ext cx="16734480" cy="365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2197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Lógica del sistema PetPoints:</a:t>
            </a:r>
          </a:p>
          <a:p>
            <a:pPr algn="l">
              <a:lnSpc>
                <a:spcPts val="4218"/>
              </a:lnSpc>
            </a:pP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Primero busca el </a:t>
            </a:r>
            <a:r>
              <a:rPr lang="en-US" sz="2197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índice</a:t>
            </a: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del usuario activo recorriendo el array. Ese índice se usa durante toda la función para acceder a </a:t>
            </a:r>
            <a:r>
              <a:rPr lang="en-US" sz="2197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usuarios[indiceUsuario].petPoints</a:t>
            </a: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  <a:p>
            <a:pPr algn="l">
              <a:lnSpc>
                <a:spcPts val="4218"/>
              </a:lnSpc>
            </a:pP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El menú usa un </a:t>
            </a:r>
            <a:r>
              <a:rPr lang="en-US" sz="2197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while (opcion != 4)</a:t>
            </a: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que se repite hasta que el usuario elija salir. Cada opción tiene un </a:t>
            </a:r>
            <a:r>
              <a:rPr lang="en-US" sz="2197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submenú</a:t>
            </a: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con su propio switch.</a:t>
            </a:r>
          </a:p>
          <a:p>
            <a:pPr algn="l">
              <a:lnSpc>
                <a:spcPts val="4218"/>
              </a:lnSpc>
            </a:pP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Para </a:t>
            </a:r>
            <a:r>
              <a:rPr lang="en-US" sz="2197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ganar puntos</a:t>
            </a: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: simplemente suma al campo petPoints del struct. Para </a:t>
            </a:r>
            <a:r>
              <a:rPr lang="en-US" sz="2197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canjear</a:t>
            </a: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: primero valida que el saldo sea suficiente con un </a:t>
            </a:r>
            <a:r>
              <a:rPr lang="en-US" sz="2197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if (petPoints &gt;= 300)</a:t>
            </a: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antes de restar. Si no hay suficientes puntos, muestra error.</a:t>
            </a:r>
          </a:p>
          <a:p>
            <a:pPr algn="l">
              <a:lnSpc>
                <a:spcPts val="4218"/>
              </a:lnSpc>
            </a:pP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Los puntos se almacenan como un </a:t>
            </a:r>
            <a:r>
              <a:rPr lang="en-US" sz="2197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int</a:t>
            </a: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dentro del struct Usuario, por lo que son </a:t>
            </a:r>
            <a:r>
              <a:rPr lang="en-US" sz="2197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persistentes durante la ejecución</a:t>
            </a:r>
            <a:r>
              <a:rPr lang="en-US" sz="2197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del programa.</a:t>
            </a:r>
          </a:p>
        </p:txBody>
      </p:sp>
    </p:spTree>
  </p:cSld>
  <p:clrMapOvr>
    <a:masterClrMapping/>
  </p:clrMapOvr>
  <p:transition spd="fast">
    <p:wipe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2571245"/>
            <a:ext cx="5337528" cy="1957097"/>
            <a:chOff x="0" y="0"/>
            <a:chExt cx="5713882" cy="2095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3884" cy="2095091"/>
            </a:xfrm>
            <a:custGeom>
              <a:avLst/>
              <a:gdLst/>
              <a:ahLst/>
              <a:cxnLst/>
              <a:rect r="r" b="b" t="t" l="l"/>
              <a:pathLst>
                <a:path h="2095091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2095091"/>
                  </a:lnTo>
                  <a:lnTo>
                    <a:pt x="0" y="2095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0" r="0" b="-31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38125"/>
              <a:ext cx="5713882" cy="233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48"/>
                </a:lnSpc>
              </a:pPr>
              <a:r>
                <a:rPr lang="en-US" sz="10797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09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4884176"/>
            <a:ext cx="2135014" cy="71169"/>
            <a:chOff x="0" y="0"/>
            <a:chExt cx="2285556" cy="7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5492" cy="76200"/>
            </a:xfrm>
            <a:custGeom>
              <a:avLst/>
              <a:gdLst/>
              <a:ahLst/>
              <a:cxnLst/>
              <a:rect r="r" b="b" t="t" l="l"/>
              <a:pathLst>
                <a:path h="76200" w="2285492">
                  <a:moveTo>
                    <a:pt x="0" y="0"/>
                  </a:moveTo>
                  <a:lnTo>
                    <a:pt x="2285492" y="0"/>
                  </a:lnTo>
                  <a:lnTo>
                    <a:pt x="228549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5417926"/>
            <a:ext cx="14233417" cy="889584"/>
            <a:chOff x="0" y="0"/>
            <a:chExt cx="15237028" cy="9523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3" cy="952314"/>
            </a:xfrm>
            <a:custGeom>
              <a:avLst/>
              <a:gdLst/>
              <a:ahLst/>
              <a:cxnLst/>
              <a:rect r="r" b="b" t="t" l="l"/>
              <a:pathLst>
                <a:path h="95231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5237028" cy="1047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0"/>
                </a:lnSpc>
              </a:pPr>
              <a:r>
                <a:rPr lang="en-US" sz="404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Exportación CSV y Cierre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6485439"/>
            <a:ext cx="12454237" cy="533750"/>
            <a:chOff x="0" y="0"/>
            <a:chExt cx="13332396" cy="571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2396" cy="571388"/>
            </a:xfrm>
            <a:custGeom>
              <a:avLst/>
              <a:gdLst/>
              <a:ahLst/>
              <a:cxnLst/>
              <a:rect r="r" b="b" t="t" l="l"/>
              <a:pathLst>
                <a:path h="571388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1" r="0" b="-4046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332396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>
                  <a:solidFill>
                    <a:srgbClr val="B4B4B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Persistencia de datos y cierre de sesión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09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EXPORTACIÓN CSV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24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956937"/>
            <a:ext cx="11427771" cy="599961"/>
            <a:chOff x="0" y="0"/>
            <a:chExt cx="15237028" cy="799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37023" cy="799944"/>
            </a:xfrm>
            <a:custGeom>
              <a:avLst/>
              <a:gdLst/>
              <a:ahLst/>
              <a:cxnLst/>
              <a:rect r="r" b="b" t="t" l="l"/>
              <a:pathLst>
                <a:path h="79994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99944"/>
                  </a:lnTo>
                  <a:lnTo>
                    <a:pt x="0" y="799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5237028" cy="9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14"/>
                </a:lnSpc>
              </a:pPr>
              <a:r>
                <a:rPr lang="en-US" sz="35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exportarDatosCSV() — Generación de Archivo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73027" y="1942449"/>
            <a:ext cx="16570262" cy="28565"/>
            <a:chOff x="0" y="0"/>
            <a:chExt cx="22093682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3682" cy="38100"/>
            </a:xfrm>
            <a:custGeom>
              <a:avLst/>
              <a:gdLst/>
              <a:ahLst/>
              <a:cxnLst/>
              <a:rect r="r" b="b" t="t" l="l"/>
              <a:pathLst>
                <a:path h="3810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9944" y="2527843"/>
            <a:ext cx="8498082" cy="6730457"/>
            <a:chOff x="0" y="0"/>
            <a:chExt cx="10124388" cy="80184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24343" cy="8018526"/>
            </a:xfrm>
            <a:custGeom>
              <a:avLst/>
              <a:gdLst/>
              <a:ahLst/>
              <a:cxnLst/>
              <a:rect r="r" b="b" t="t" l="l"/>
              <a:pathLst>
                <a:path h="8018526" w="10124343">
                  <a:moveTo>
                    <a:pt x="0" y="641477"/>
                  </a:moveTo>
                  <a:cubicBezTo>
                    <a:pt x="0" y="287147"/>
                    <a:pt x="253974" y="0"/>
                    <a:pt x="567368" y="0"/>
                  </a:cubicBezTo>
                  <a:lnTo>
                    <a:pt x="9556975" y="0"/>
                  </a:lnTo>
                  <a:cubicBezTo>
                    <a:pt x="9870370" y="0"/>
                    <a:pt x="10124343" y="287147"/>
                    <a:pt x="10124343" y="641477"/>
                  </a:cubicBezTo>
                  <a:lnTo>
                    <a:pt x="10124343" y="7377049"/>
                  </a:lnTo>
                  <a:cubicBezTo>
                    <a:pt x="10124343" y="7731379"/>
                    <a:pt x="9870370" y="8018526"/>
                    <a:pt x="9556975" y="8018526"/>
                  </a:cubicBezTo>
                  <a:lnTo>
                    <a:pt x="567368" y="8018526"/>
                  </a:lnTo>
                  <a:cubicBezTo>
                    <a:pt x="253974" y="8018526"/>
                    <a:pt x="0" y="7731252"/>
                    <a:pt x="0" y="737704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39812" y="2695705"/>
            <a:ext cx="4241969" cy="383684"/>
            <a:chOff x="0" y="0"/>
            <a:chExt cx="5053770" cy="457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53771" cy="457110"/>
            </a:xfrm>
            <a:custGeom>
              <a:avLst/>
              <a:gdLst/>
              <a:ahLst/>
              <a:cxnLst/>
              <a:rect r="r" b="b" t="t" l="l"/>
              <a:pathLst>
                <a:path h="457110" w="5053771">
                  <a:moveTo>
                    <a:pt x="0" y="0"/>
                  </a:moveTo>
                  <a:lnTo>
                    <a:pt x="5053771" y="0"/>
                  </a:lnTo>
                  <a:lnTo>
                    <a:pt x="5053771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-13061" b="-1935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053770" cy="495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EXPORTARDATOSCSV()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39812" y="3070533"/>
            <a:ext cx="7918345" cy="5886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// Crear archivo</a:t>
            </a: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StreamWriter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csv = </a:t>
            </a:r>
            <a:r>
              <a:rPr lang="en-US" sz="1762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new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  <a:r>
              <a:rPr lang="en-US" sz="1762">
                <a:solidFill>
                  <a:srgbClr val="4EC9B0"/>
                </a:solidFill>
                <a:latin typeface="Literata"/>
                <a:ea typeface="Literata"/>
                <a:cs typeface="Literata"/>
                <a:sym typeface="Literata"/>
              </a:rPr>
              <a:t>StreamWriter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(</a:t>
            </a:r>
            <a:r>
              <a:rPr lang="en-US" sz="1762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"Mascotas.csv"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172"/>
              </a:lnSpc>
            </a:pP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// Encabezados</a:t>
            </a: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csv.WriteLine(</a:t>
            </a:r>
            <a:r>
              <a:rPr lang="en-US" sz="1762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"ID,Dueño,Nombre,Especie,..."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172"/>
              </a:lnSpc>
            </a:pP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6A9955"/>
                </a:solidFill>
                <a:latin typeface="Literata"/>
                <a:ea typeface="Literata"/>
                <a:cs typeface="Literata"/>
                <a:sym typeface="Literata"/>
              </a:rPr>
              <a:t>// Cada mascota</a:t>
            </a: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for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</a:t>
            </a:r>
            <a:r>
              <a:rPr lang="en-US" sz="1762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int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i = 0; i &lt; totalMascotas; i++)</a:t>
            </a: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{</a:t>
            </a: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62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string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est = </a:t>
            </a:r>
            <a:r>
              <a:rPr lang="en-US" sz="1762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"En Casa"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62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if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(mascotas[i].extraviada) est = </a:t>
            </a:r>
            <a:r>
              <a:rPr lang="en-US" sz="1762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"Desaparecida"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</a:t>
            </a:r>
            <a:r>
              <a:rPr lang="en-US" sz="1762">
                <a:solidFill>
                  <a:srgbClr val="C586C0"/>
                </a:solidFill>
                <a:latin typeface="Literata"/>
                <a:ea typeface="Literata"/>
                <a:cs typeface="Literata"/>
                <a:sym typeface="Literata"/>
              </a:rPr>
              <a:t>string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c = m[i].citasMedicas.Replace(</a:t>
            </a:r>
            <a:r>
              <a:rPr lang="en-US" sz="1762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"\n"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, </a:t>
            </a:r>
            <a:r>
              <a:rPr lang="en-US" sz="1762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 "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  csv.WriteLine(</a:t>
            </a:r>
            <a:r>
              <a:rPr lang="en-US" sz="1762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$"{m[i].id},..."</a:t>
            </a: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}</a:t>
            </a:r>
          </a:p>
          <a:p>
            <a:pPr algn="l">
              <a:lnSpc>
                <a:spcPts val="3172"/>
              </a:lnSpc>
            </a:pPr>
            <a:r>
              <a:rPr lang="en-US" sz="1762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csv.Close();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06548" y="2535839"/>
            <a:ext cx="5655962" cy="447631"/>
            <a:chOff x="0" y="0"/>
            <a:chExt cx="6738363" cy="5332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38361" cy="533293"/>
            </a:xfrm>
            <a:custGeom>
              <a:avLst/>
              <a:gdLst/>
              <a:ahLst/>
              <a:cxnLst/>
              <a:rect r="r" b="b" t="t" l="l"/>
              <a:pathLst>
                <a:path h="533293" w="6738361">
                  <a:moveTo>
                    <a:pt x="0" y="0"/>
                  </a:moveTo>
                  <a:lnTo>
                    <a:pt x="6738361" y="0"/>
                  </a:lnTo>
                  <a:lnTo>
                    <a:pt x="6738361" y="533293"/>
                  </a:lnTo>
                  <a:lnTo>
                    <a:pt x="0" y="533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8" r="-13061" b="-2283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738363" cy="57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 spc="22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LÓGICA DE EXPORTACIÓN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06548" y="2981413"/>
            <a:ext cx="7352752" cy="539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2265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1. StreamWriter:</a:t>
            </a:r>
            <a:r>
              <a:rPr lang="en-US" sz="226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Crea </a:t>
            </a:r>
            <a:r>
              <a:rPr lang="en-US" sz="2265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"Mascotas.csv"</a:t>
            </a:r>
            <a:r>
              <a:rPr lang="en-US" sz="226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en la carpeta del proyecto. Si existe, lo sobrescribe.</a:t>
            </a:r>
          </a:p>
          <a:p>
            <a:pPr algn="l">
              <a:lnSpc>
                <a:spcPts val="4350"/>
              </a:lnSpc>
            </a:pPr>
            <a:r>
              <a:rPr lang="en-US" sz="2265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2. Encabezados CSV:</a:t>
            </a:r>
            <a:r>
              <a:rPr lang="en-US" sz="226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Primera línea con nombres de columnas separados por comas. CSV = Comma Separated Values.</a:t>
            </a:r>
          </a:p>
          <a:p>
            <a:pPr algn="l">
              <a:lnSpc>
                <a:spcPts val="4350"/>
              </a:lnSpc>
            </a:pPr>
            <a:r>
              <a:rPr lang="en-US" sz="2265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3. Conversión:</a:t>
            </a:r>
            <a:r>
              <a:rPr lang="en-US" sz="226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El boolean </a:t>
            </a:r>
            <a:r>
              <a:rPr lang="en-US" sz="2265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extraviada</a:t>
            </a:r>
            <a:r>
              <a:rPr lang="en-US" sz="226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se convierte a "En Casa"/"Desaparecida". Los </a:t>
            </a:r>
            <a:r>
              <a:rPr lang="en-US" sz="2265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\n</a:t>
            </a:r>
            <a:r>
              <a:rPr lang="en-US" sz="226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de citasMedicas se reemplazan por espacios con </a:t>
            </a:r>
            <a:r>
              <a:rPr lang="en-US" sz="2265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Replace("\n", " ")</a:t>
            </a:r>
            <a:r>
              <a:rPr lang="en-US" sz="226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  <a:p>
            <a:pPr algn="l">
              <a:lnSpc>
                <a:spcPts val="4350"/>
              </a:lnSpc>
            </a:pPr>
            <a:r>
              <a:rPr lang="en-US" sz="2265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4. Cierre:</a:t>
            </a:r>
            <a:r>
              <a:rPr lang="en-US" sz="226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265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Close()</a:t>
            </a:r>
            <a:r>
              <a:rPr lang="en-US" sz="226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escribe datos en disco y libera el recurso.</a:t>
            </a:r>
          </a:p>
        </p:txBody>
      </p:sp>
    </p:spTree>
  </p:cSld>
  <p:clrMapOvr>
    <a:masterClrMapping/>
  </p:clrMapOvr>
  <p:transition spd="fast">
    <p:wipe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571386"/>
            <a:chOff x="0" y="0"/>
            <a:chExt cx="24379238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761873"/>
            </a:xfrm>
            <a:custGeom>
              <a:avLst/>
              <a:gdLst/>
              <a:ahLst/>
              <a:cxnLst/>
              <a:rect r="r" b="b" t="t" l="l"/>
              <a:pathLst>
                <a:path h="761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761873"/>
                  </a:lnTo>
                  <a:lnTo>
                    <a:pt x="0" y="761873"/>
                  </a:lnTo>
                  <a:close/>
                </a:path>
              </a:pathLst>
            </a:custGeom>
            <a:solidFill>
              <a:srgbClr val="2525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0"/>
            <a:ext cx="7142359" cy="571386"/>
            <a:chOff x="0" y="0"/>
            <a:chExt cx="9523146" cy="761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140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146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3"/>
                </a:lnSpc>
              </a:pPr>
              <a:r>
                <a:rPr lang="en-US" sz="1349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09</a:t>
              </a:r>
              <a:r>
                <a:rPr lang="en-US" sz="1349">
                  <a:solidFill>
                    <a:srgbClr val="6E7681"/>
                  </a:solidFill>
                  <a:latin typeface="Literata"/>
                  <a:ea typeface="Literata"/>
                  <a:cs typeface="Literata"/>
                  <a:sym typeface="Literata"/>
                </a:rPr>
                <a:t>  CIERRE DE SESIÓN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84569" y="0"/>
            <a:ext cx="1142781" cy="571386"/>
            <a:chOff x="0" y="0"/>
            <a:chExt cx="1523708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702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">
                  <a:moveTo>
                    <a:pt x="0" y="0"/>
                  </a:moveTo>
                  <a:lnTo>
                    <a:pt x="1523702" y="0"/>
                  </a:lnTo>
                  <a:lnTo>
                    <a:pt x="1523702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23708" cy="79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3"/>
                </a:lnSpc>
              </a:pPr>
              <a:r>
                <a:rPr lang="en-US" sz="1349">
                  <a:solidFill>
                    <a:srgbClr val="B4B4B4"/>
                  </a:solidFill>
                  <a:latin typeface="Literata"/>
                  <a:ea typeface="Literata"/>
                  <a:cs typeface="Literata"/>
                  <a:sym typeface="Literata"/>
                </a:rPr>
                <a:t>25 / 30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9944" y="835752"/>
            <a:ext cx="11427771" cy="599961"/>
            <a:chOff x="0" y="0"/>
            <a:chExt cx="15237028" cy="799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37023" cy="799944"/>
            </a:xfrm>
            <a:custGeom>
              <a:avLst/>
              <a:gdLst/>
              <a:ahLst/>
              <a:cxnLst/>
              <a:rect r="r" b="b" t="t" l="l"/>
              <a:pathLst>
                <a:path h="799944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99944"/>
                  </a:lnTo>
                  <a:lnTo>
                    <a:pt x="0" y="799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5237028" cy="9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14"/>
                </a:lnSpc>
              </a:pPr>
              <a:r>
                <a:rPr lang="en-US" sz="3599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salirPrograma() — Cierre de Sesión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075" y="1700079"/>
            <a:ext cx="16563133" cy="31120"/>
            <a:chOff x="0" y="0"/>
            <a:chExt cx="20271297" cy="38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71298" cy="38100"/>
            </a:xfrm>
            <a:custGeom>
              <a:avLst/>
              <a:gdLst/>
              <a:ahLst/>
              <a:cxnLst/>
              <a:rect r="r" b="b" t="t" l="l"/>
              <a:pathLst>
                <a:path h="38100" w="20271298">
                  <a:moveTo>
                    <a:pt x="0" y="0"/>
                  </a:moveTo>
                  <a:lnTo>
                    <a:pt x="20271298" y="0"/>
                  </a:lnTo>
                  <a:lnTo>
                    <a:pt x="2027129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3E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9944" y="1972419"/>
            <a:ext cx="8010278" cy="3439244"/>
            <a:chOff x="0" y="0"/>
            <a:chExt cx="9803624" cy="42092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03554" cy="4209161"/>
            </a:xfrm>
            <a:custGeom>
              <a:avLst/>
              <a:gdLst/>
              <a:ahLst/>
              <a:cxnLst/>
              <a:rect r="r" b="b" t="t" l="l"/>
              <a:pathLst>
                <a:path h="4209161" w="9803554">
                  <a:moveTo>
                    <a:pt x="0" y="336677"/>
                  </a:moveTo>
                  <a:cubicBezTo>
                    <a:pt x="0" y="150749"/>
                    <a:pt x="138315" y="0"/>
                    <a:pt x="308906" y="0"/>
                  </a:cubicBezTo>
                  <a:lnTo>
                    <a:pt x="9494648" y="0"/>
                  </a:lnTo>
                  <a:cubicBezTo>
                    <a:pt x="9665240" y="0"/>
                    <a:pt x="9803554" y="150749"/>
                    <a:pt x="9803554" y="336677"/>
                  </a:cubicBezTo>
                  <a:lnTo>
                    <a:pt x="9803554" y="3872484"/>
                  </a:lnTo>
                  <a:cubicBezTo>
                    <a:pt x="9803554" y="4058412"/>
                    <a:pt x="9665240" y="4209161"/>
                    <a:pt x="9494648" y="4209161"/>
                  </a:cubicBezTo>
                  <a:lnTo>
                    <a:pt x="308906" y="4209161"/>
                  </a:lnTo>
                  <a:cubicBezTo>
                    <a:pt x="138315" y="4209288"/>
                    <a:pt x="0" y="4058412"/>
                    <a:pt x="0" y="3872484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3E3E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42655" y="2135823"/>
            <a:ext cx="4283568" cy="391706"/>
            <a:chOff x="0" y="0"/>
            <a:chExt cx="5242576" cy="4794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42578" cy="479401"/>
            </a:xfrm>
            <a:custGeom>
              <a:avLst/>
              <a:gdLst/>
              <a:ahLst/>
              <a:cxnLst/>
              <a:rect r="r" b="b" t="t" l="l"/>
              <a:pathLst>
                <a:path h="479401" w="5242578">
                  <a:moveTo>
                    <a:pt x="0" y="0"/>
                  </a:moveTo>
                  <a:lnTo>
                    <a:pt x="5242578" y="0"/>
                  </a:lnTo>
                  <a:lnTo>
                    <a:pt x="5242578" y="479401"/>
                  </a:lnTo>
                  <a:lnTo>
                    <a:pt x="0" y="4794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563" r="-8989" b="-17991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242576" cy="517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1874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SALIRPROGRAMA()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2655" y="2488387"/>
            <a:ext cx="7424857" cy="224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2015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MostrarEncabezado(</a:t>
            </a:r>
            <a:r>
              <a:rPr lang="en-US" sz="2015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"CERRANDO SESIÓN"</a:t>
            </a:r>
            <a:r>
              <a:rPr lang="en-US" sz="2015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, </a:t>
            </a:r>
            <a:r>
              <a:rPr lang="en-US" sz="2015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""</a:t>
            </a:r>
            <a:r>
              <a:rPr lang="en-US" sz="2015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</a:t>
            </a:r>
          </a:p>
          <a:p>
            <a:pPr algn="l">
              <a:lnSpc>
                <a:spcPts val="3627"/>
              </a:lnSpc>
            </a:pPr>
            <a:r>
              <a:rPr lang="en-US" sz="2015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Console.WriteLine(</a:t>
            </a:r>
            <a:r>
              <a:rPr lang="en-US" sz="2015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"¡Vuelve pronto!"</a:t>
            </a:r>
            <a:r>
              <a:rPr lang="en-US" sz="2015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); MostrarCarga(3);</a:t>
            </a:r>
          </a:p>
          <a:p>
            <a:pPr algn="l">
              <a:lnSpc>
                <a:spcPts val="3627"/>
              </a:lnSpc>
            </a:pPr>
            <a:r>
              <a:rPr lang="en-US" sz="2015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sesionIniciada = </a:t>
            </a:r>
            <a:r>
              <a:rPr lang="en-US" sz="2015">
                <a:solidFill>
                  <a:srgbClr val="569CD6"/>
                </a:solidFill>
                <a:latin typeface="Literata"/>
                <a:ea typeface="Literata"/>
                <a:cs typeface="Literata"/>
                <a:sym typeface="Literata"/>
              </a:rPr>
              <a:t>false</a:t>
            </a:r>
            <a:r>
              <a:rPr lang="en-US" sz="2015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</a:t>
            </a:r>
          </a:p>
          <a:p>
            <a:pPr algn="l">
              <a:lnSpc>
                <a:spcPts val="3627"/>
              </a:lnSpc>
            </a:pPr>
            <a:r>
              <a:rPr lang="en-US" sz="2015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usuarioActivo = </a:t>
            </a:r>
            <a:r>
              <a:rPr lang="en-US" sz="2015">
                <a:solidFill>
                  <a:srgbClr val="CE9178"/>
                </a:solidFill>
                <a:latin typeface="Literata"/>
                <a:ea typeface="Literata"/>
                <a:cs typeface="Literata"/>
                <a:sym typeface="Literata"/>
              </a:rPr>
              <a:t>""</a:t>
            </a:r>
            <a:r>
              <a:rPr lang="en-US" sz="2015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; menu = 7;</a:t>
            </a:r>
          </a:p>
          <a:p>
            <a:pPr algn="l">
              <a:lnSpc>
                <a:spcPts val="3627"/>
              </a:lnSpc>
            </a:pPr>
            <a:r>
              <a:rPr lang="en-US" sz="2015">
                <a:solidFill>
                  <a:srgbClr val="A5D6A7"/>
                </a:solidFill>
                <a:latin typeface="Literata"/>
                <a:ea typeface="Literata"/>
                <a:cs typeface="Literata"/>
                <a:sym typeface="Literata"/>
              </a:rPr>
              <a:t>Console.Clear();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5609" y="1980203"/>
            <a:ext cx="5711428" cy="435742"/>
            <a:chOff x="0" y="0"/>
            <a:chExt cx="6990105" cy="5332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90103" cy="533293"/>
            </a:xfrm>
            <a:custGeom>
              <a:avLst/>
              <a:gdLst/>
              <a:ahLst/>
              <a:cxnLst/>
              <a:rect r="r" b="b" t="t" l="l"/>
              <a:pathLst>
                <a:path h="533293" w="6990103">
                  <a:moveTo>
                    <a:pt x="0" y="0"/>
                  </a:moveTo>
                  <a:lnTo>
                    <a:pt x="6990103" y="0"/>
                  </a:lnTo>
                  <a:lnTo>
                    <a:pt x="6990103" y="533293"/>
                  </a:lnTo>
                  <a:lnTo>
                    <a:pt x="0" y="533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8" r="-8990" b="-2283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90105" cy="57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1874" spc="267">
                  <a:solidFill>
                    <a:srgbClr val="00BCD4"/>
                  </a:solidFill>
                  <a:latin typeface="Literata"/>
                  <a:ea typeface="Literata"/>
                  <a:cs typeface="Literata"/>
                  <a:sym typeface="Literata"/>
                </a:rPr>
                <a:t>FLUJO DE CIERRE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88469" y="2594904"/>
            <a:ext cx="7938881" cy="793672"/>
            <a:chOff x="0" y="0"/>
            <a:chExt cx="9716242" cy="971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16280" cy="971423"/>
            </a:xfrm>
            <a:custGeom>
              <a:avLst/>
              <a:gdLst/>
              <a:ahLst/>
              <a:cxnLst/>
              <a:rect r="r" b="b" t="t" l="l"/>
              <a:pathLst>
                <a:path h="971423" w="9716280">
                  <a:moveTo>
                    <a:pt x="0" y="77724"/>
                  </a:moveTo>
                  <a:cubicBezTo>
                    <a:pt x="0" y="34798"/>
                    <a:pt x="31928" y="0"/>
                    <a:pt x="71313" y="0"/>
                  </a:cubicBezTo>
                  <a:lnTo>
                    <a:pt x="9644964" y="0"/>
                  </a:lnTo>
                  <a:cubicBezTo>
                    <a:pt x="9684349" y="0"/>
                    <a:pt x="9716280" y="34798"/>
                    <a:pt x="9716280" y="77724"/>
                  </a:cubicBezTo>
                  <a:lnTo>
                    <a:pt x="9716280" y="893699"/>
                  </a:lnTo>
                  <a:cubicBezTo>
                    <a:pt x="9716280" y="936625"/>
                    <a:pt x="9684349" y="971423"/>
                    <a:pt x="9644964" y="971423"/>
                  </a:cubicBezTo>
                  <a:lnTo>
                    <a:pt x="71313" y="971423"/>
                  </a:lnTo>
                  <a:cubicBezTo>
                    <a:pt x="31928" y="971423"/>
                    <a:pt x="0" y="936625"/>
                    <a:pt x="0" y="89369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781179" y="2602685"/>
            <a:ext cx="7353460" cy="778110"/>
            <a:chOff x="0" y="0"/>
            <a:chExt cx="8999756" cy="9523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99758" cy="952318"/>
            </a:xfrm>
            <a:custGeom>
              <a:avLst/>
              <a:gdLst/>
              <a:ahLst/>
              <a:cxnLst/>
              <a:rect r="r" b="b" t="t" l="l"/>
              <a:pathLst>
                <a:path h="952318" w="8999758">
                  <a:moveTo>
                    <a:pt x="0" y="0"/>
                  </a:moveTo>
                  <a:lnTo>
                    <a:pt x="8999758" y="0"/>
                  </a:lnTo>
                  <a:lnTo>
                    <a:pt x="8999758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695" r="-8989" b="-15069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8999756" cy="1018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sz="20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1.</a:t>
              </a:r>
              <a:r>
                <a:rPr lang="en-US" sz="20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</a:t>
              </a:r>
              <a:r>
                <a:rPr lang="en-US" sz="20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menu = 7</a:t>
              </a:r>
              <a:r>
                <a:rPr lang="en-US" sz="20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→ el do-while de menuPrincipal() termina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341915" y="2985506"/>
            <a:ext cx="28565" cy="314268"/>
            <a:chOff x="0" y="0"/>
            <a:chExt cx="38087" cy="4190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100" cy="418973"/>
            </a:xfrm>
            <a:custGeom>
              <a:avLst/>
              <a:gdLst/>
              <a:ahLst/>
              <a:cxnLst/>
              <a:rect r="r" b="b" t="t" l="l"/>
              <a:pathLst>
                <a:path h="418973" w="38100">
                  <a:moveTo>
                    <a:pt x="0" y="0"/>
                  </a:moveTo>
                  <a:lnTo>
                    <a:pt x="38100" y="41897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-12"/>
              </a:stretch>
            </a:blipFill>
            <a:ln w="28569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88469" y="3684264"/>
            <a:ext cx="7938881" cy="793672"/>
            <a:chOff x="0" y="0"/>
            <a:chExt cx="9716242" cy="971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16280" cy="971423"/>
            </a:xfrm>
            <a:custGeom>
              <a:avLst/>
              <a:gdLst/>
              <a:ahLst/>
              <a:cxnLst/>
              <a:rect r="r" b="b" t="t" l="l"/>
              <a:pathLst>
                <a:path h="971423" w="9716280">
                  <a:moveTo>
                    <a:pt x="0" y="77724"/>
                  </a:moveTo>
                  <a:cubicBezTo>
                    <a:pt x="0" y="34798"/>
                    <a:pt x="31928" y="0"/>
                    <a:pt x="71313" y="0"/>
                  </a:cubicBezTo>
                  <a:lnTo>
                    <a:pt x="9644964" y="0"/>
                  </a:lnTo>
                  <a:cubicBezTo>
                    <a:pt x="9684349" y="0"/>
                    <a:pt x="9716280" y="34798"/>
                    <a:pt x="9716280" y="77724"/>
                  </a:cubicBezTo>
                  <a:lnTo>
                    <a:pt x="9716280" y="893699"/>
                  </a:lnTo>
                  <a:cubicBezTo>
                    <a:pt x="9716280" y="936625"/>
                    <a:pt x="9684349" y="971423"/>
                    <a:pt x="9644964" y="971423"/>
                  </a:cubicBezTo>
                  <a:lnTo>
                    <a:pt x="71313" y="971423"/>
                  </a:lnTo>
                  <a:cubicBezTo>
                    <a:pt x="31928" y="971423"/>
                    <a:pt x="0" y="936625"/>
                    <a:pt x="0" y="89369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781179" y="3692045"/>
            <a:ext cx="7353460" cy="778110"/>
            <a:chOff x="0" y="0"/>
            <a:chExt cx="8999756" cy="9523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999758" cy="952318"/>
            </a:xfrm>
            <a:custGeom>
              <a:avLst/>
              <a:gdLst/>
              <a:ahLst/>
              <a:cxnLst/>
              <a:rect r="r" b="b" t="t" l="l"/>
              <a:pathLst>
                <a:path h="952318" w="8999758">
                  <a:moveTo>
                    <a:pt x="0" y="0"/>
                  </a:moveTo>
                  <a:lnTo>
                    <a:pt x="8999758" y="0"/>
                  </a:lnTo>
                  <a:lnTo>
                    <a:pt x="8999758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695" r="-8989" b="-15069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8999756" cy="1018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sz="20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2.</a:t>
              </a:r>
              <a:r>
                <a:rPr lang="en-US" sz="20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Vuelve a </a:t>
              </a:r>
              <a:r>
                <a:rPr lang="en-US" sz="2099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Main()</a:t>
              </a:r>
              <a:r>
                <a:rPr lang="en-US" sz="20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→ sesionIniciada es false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341915" y="3985431"/>
            <a:ext cx="28565" cy="314268"/>
            <a:chOff x="0" y="0"/>
            <a:chExt cx="38087" cy="4190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100" cy="418973"/>
            </a:xfrm>
            <a:custGeom>
              <a:avLst/>
              <a:gdLst/>
              <a:ahLst/>
              <a:cxnLst/>
              <a:rect r="r" b="b" t="t" l="l"/>
              <a:pathLst>
                <a:path h="418973" w="38100">
                  <a:moveTo>
                    <a:pt x="0" y="0"/>
                  </a:moveTo>
                  <a:lnTo>
                    <a:pt x="38100" y="41897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-12"/>
              </a:stretch>
            </a:blipFill>
            <a:ln w="28569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488469" y="4530573"/>
            <a:ext cx="7938881" cy="793672"/>
            <a:chOff x="0" y="0"/>
            <a:chExt cx="9716242" cy="971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16280" cy="971423"/>
            </a:xfrm>
            <a:custGeom>
              <a:avLst/>
              <a:gdLst/>
              <a:ahLst/>
              <a:cxnLst/>
              <a:rect r="r" b="b" t="t" l="l"/>
              <a:pathLst>
                <a:path h="971423" w="9716280">
                  <a:moveTo>
                    <a:pt x="0" y="77724"/>
                  </a:moveTo>
                  <a:cubicBezTo>
                    <a:pt x="0" y="34798"/>
                    <a:pt x="31928" y="0"/>
                    <a:pt x="71313" y="0"/>
                  </a:cubicBezTo>
                  <a:lnTo>
                    <a:pt x="9644964" y="0"/>
                  </a:lnTo>
                  <a:cubicBezTo>
                    <a:pt x="9684349" y="0"/>
                    <a:pt x="9716280" y="34798"/>
                    <a:pt x="9716280" y="77724"/>
                  </a:cubicBezTo>
                  <a:lnTo>
                    <a:pt x="9716280" y="893699"/>
                  </a:lnTo>
                  <a:cubicBezTo>
                    <a:pt x="9716280" y="936625"/>
                    <a:pt x="9684349" y="971423"/>
                    <a:pt x="9644964" y="971423"/>
                  </a:cubicBezTo>
                  <a:lnTo>
                    <a:pt x="71313" y="971423"/>
                  </a:lnTo>
                  <a:cubicBezTo>
                    <a:pt x="31928" y="971423"/>
                    <a:pt x="0" y="936625"/>
                    <a:pt x="0" y="893699"/>
                  </a:cubicBezTo>
                  <a:close/>
                </a:path>
              </a:pathLst>
            </a:custGeom>
            <a:solidFill>
              <a:srgbClr val="252535"/>
            </a:solidFill>
            <a:ln w="14285" cap="sq">
              <a:solidFill>
                <a:srgbClr val="4CAF5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781179" y="4538354"/>
            <a:ext cx="7353460" cy="778110"/>
            <a:chOff x="0" y="0"/>
            <a:chExt cx="8999756" cy="95231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999758" cy="952318"/>
            </a:xfrm>
            <a:custGeom>
              <a:avLst/>
              <a:gdLst/>
              <a:ahLst/>
              <a:cxnLst/>
              <a:rect r="r" b="b" t="t" l="l"/>
              <a:pathLst>
                <a:path h="952318" w="8999758">
                  <a:moveTo>
                    <a:pt x="0" y="0"/>
                  </a:moveTo>
                  <a:lnTo>
                    <a:pt x="8999758" y="0"/>
                  </a:lnTo>
                  <a:lnTo>
                    <a:pt x="8999758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695" r="-8989" b="-15069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8999756" cy="1018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3"/>
                </a:lnSpc>
              </a:pPr>
              <a:r>
                <a:rPr lang="en-US" sz="2099">
                  <a:solidFill>
                    <a:srgbClr val="4CAF5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3.</a:t>
              </a:r>
              <a:r>
                <a:rPr lang="en-US" sz="20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Se llama a </a:t>
              </a:r>
              <a:r>
                <a:rPr lang="en-US" sz="2099">
                  <a:solidFill>
                    <a:srgbClr val="4CAF5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inicio()</a:t>
              </a:r>
              <a:r>
                <a:rPr lang="en-US" sz="2099">
                  <a:solidFill>
                    <a:srgbClr val="E0E0E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→ pantalla de bienvenida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857075" y="5465790"/>
            <a:ext cx="16563133" cy="366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4"/>
              </a:lnSpc>
            </a:pPr>
            <a:r>
              <a:rPr lang="en-US" sz="2205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Lógica del cierre:</a:t>
            </a:r>
          </a:p>
          <a:p>
            <a:pPr algn="l">
              <a:lnSpc>
                <a:spcPts val="4234"/>
              </a:lnSpc>
            </a:pP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No cierra el programa, solo </a:t>
            </a:r>
            <a:r>
              <a:rPr lang="en-US" sz="2205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cierra la sesión actual</a:t>
            </a: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. Reinicia variables para que </a:t>
            </a:r>
            <a:r>
              <a:rPr lang="en-US" sz="2205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Main()</a:t>
            </a: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vuelva a mostrar la bienvenida.</a:t>
            </a:r>
          </a:p>
          <a:p>
            <a:pPr algn="l">
              <a:lnSpc>
                <a:spcPts val="4234"/>
              </a:lnSpc>
            </a:pP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Las 3 variables reiniciadas:</a:t>
            </a:r>
          </a:p>
          <a:p>
            <a:pPr algn="l">
              <a:lnSpc>
                <a:spcPts val="4234"/>
              </a:lnSpc>
            </a:pP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• </a:t>
            </a:r>
            <a:r>
              <a:rPr lang="en-US" sz="2205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sesionIniciada = false</a:t>
            </a: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→ while de inicio() se ejecuta de nuevo</a:t>
            </a:r>
          </a:p>
          <a:p>
            <a:pPr algn="l">
              <a:lnSpc>
                <a:spcPts val="4234"/>
              </a:lnSpc>
            </a:pP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• </a:t>
            </a:r>
            <a:r>
              <a:rPr lang="en-US" sz="2205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usuarioActivo = ""</a:t>
            </a: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→ borra usuario actual</a:t>
            </a:r>
          </a:p>
          <a:p>
            <a:pPr algn="l">
              <a:lnSpc>
                <a:spcPts val="4234"/>
              </a:lnSpc>
            </a:pP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• </a:t>
            </a:r>
            <a:r>
              <a:rPr lang="en-US" sz="2205">
                <a:solidFill>
                  <a:srgbClr val="00BCD4"/>
                </a:solidFill>
                <a:latin typeface="Quattrocento"/>
                <a:ea typeface="Quattrocento"/>
                <a:cs typeface="Quattrocento"/>
                <a:sym typeface="Quattrocento"/>
              </a:rPr>
              <a:t>menu = 7</a:t>
            </a: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→ do-while de menuPrincipal termina</a:t>
            </a:r>
          </a:p>
          <a:p>
            <a:pPr algn="l">
              <a:lnSpc>
                <a:spcPts val="4234"/>
              </a:lnSpc>
            </a:pP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Permite que </a:t>
            </a:r>
            <a:r>
              <a:rPr lang="en-US" sz="2205" b="true">
                <a:solidFill>
                  <a:srgbClr val="E0E0E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otro usuario inicie sesión</a:t>
            </a:r>
            <a:r>
              <a:rPr lang="en-US" sz="2205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 sin reiniciar. Ciclo: Bienvenida → Login → Menú → Cierre → Bienvenida.</a:t>
            </a:r>
          </a:p>
        </p:txBody>
      </p:sp>
    </p:spTree>
  </p:cSld>
  <p:clrMapOvr>
    <a:masterClrMapping/>
  </p:clrMapOvr>
  <p:transition spd="fast">
    <p:wipe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23688" y="1348443"/>
            <a:ext cx="2311425" cy="108356"/>
            <a:chOff x="0" y="0"/>
            <a:chExt cx="1625208" cy="76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203" cy="76200"/>
            </a:xfrm>
            <a:custGeom>
              <a:avLst/>
              <a:gdLst/>
              <a:ahLst/>
              <a:cxnLst/>
              <a:rect r="r" b="b" t="t" l="l"/>
              <a:pathLst>
                <a:path h="76200" w="1625203">
                  <a:moveTo>
                    <a:pt x="0" y="0"/>
                  </a:moveTo>
                  <a:lnTo>
                    <a:pt x="1625203" y="0"/>
                  </a:lnTo>
                  <a:lnTo>
                    <a:pt x="162520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56547" y="2161104"/>
            <a:ext cx="9245714" cy="1896168"/>
            <a:chOff x="0" y="0"/>
            <a:chExt cx="6500845" cy="13332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00843" cy="1333240"/>
            </a:xfrm>
            <a:custGeom>
              <a:avLst/>
              <a:gdLst/>
              <a:ahLst/>
              <a:cxnLst/>
              <a:rect r="r" b="b" t="t" l="l"/>
              <a:pathLst>
                <a:path h="1333240" w="6500843">
                  <a:moveTo>
                    <a:pt x="0" y="0"/>
                  </a:moveTo>
                  <a:lnTo>
                    <a:pt x="6500843" y="0"/>
                  </a:lnTo>
                  <a:lnTo>
                    <a:pt x="6500843" y="1333240"/>
                  </a:lnTo>
                  <a:lnTo>
                    <a:pt x="0" y="1333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-134385" b="-1726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0"/>
              <a:ext cx="6500845" cy="1523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34"/>
                </a:lnSpc>
              </a:pPr>
              <a:r>
                <a:rPr lang="en-US" sz="8148" spc="626">
                  <a:solidFill>
                    <a:srgbClr val="FFFFFF"/>
                  </a:solidFill>
                  <a:latin typeface="Literata"/>
                  <a:ea typeface="Literata"/>
                  <a:cs typeface="Literata"/>
                  <a:sym typeface="Literata"/>
                </a:rPr>
                <a:t>¡GRACIAS!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123688" y="4599035"/>
            <a:ext cx="2311425" cy="108356"/>
            <a:chOff x="0" y="0"/>
            <a:chExt cx="1625208" cy="761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25203" cy="76200"/>
            </a:xfrm>
            <a:custGeom>
              <a:avLst/>
              <a:gdLst/>
              <a:ahLst/>
              <a:cxnLst/>
              <a:rect r="r" b="b" t="t" l="l"/>
              <a:pathLst>
                <a:path h="76200" w="1625203">
                  <a:moveTo>
                    <a:pt x="0" y="0"/>
                  </a:moveTo>
                  <a:lnTo>
                    <a:pt x="1625203" y="0"/>
                  </a:lnTo>
                  <a:lnTo>
                    <a:pt x="162520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28725" y="5365835"/>
            <a:ext cx="16701365" cy="835064"/>
            <a:chOff x="0" y="0"/>
            <a:chExt cx="15237028" cy="7618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37023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5237028" cy="828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>
                  <a:solidFill>
                    <a:srgbClr val="00BCD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PetFind — Proyecto Final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72558" y="6441543"/>
            <a:ext cx="14613691" cy="626298"/>
            <a:chOff x="0" y="0"/>
            <a:chExt cx="13332396" cy="5713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32396" cy="571388"/>
            </a:xfrm>
            <a:custGeom>
              <a:avLst/>
              <a:gdLst/>
              <a:ahLst/>
              <a:cxnLst/>
              <a:rect r="r" b="b" t="t" l="l"/>
              <a:pathLst>
                <a:path h="571388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1" r="0" b="-4046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332396" cy="619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1"/>
                </a:lnSpc>
              </a:pPr>
              <a:r>
                <a:rPr lang="en-US" sz="1799">
                  <a:solidFill>
                    <a:srgbClr val="B4B4B4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Introducción a la Programación — C# Console Application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28725" y="7263655"/>
            <a:ext cx="16701365" cy="141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sz="203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Structs · Arrays · Bucles · Condicionales · Manejo de excepciones</a:t>
            </a:r>
          </a:p>
          <a:p>
            <a:pPr algn="ctr">
              <a:lnSpc>
                <a:spcPts val="3897"/>
              </a:lnSpc>
            </a:pPr>
            <a:r>
              <a:rPr lang="en-US" sz="203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Flujo de control · Entrada/Salida de consola · Exportación CSV</a:t>
            </a:r>
          </a:p>
          <a:p>
            <a:pPr algn="ctr">
              <a:lnSpc>
                <a:spcPts val="3897"/>
              </a:lnSpc>
            </a:pPr>
            <a:r>
              <a:rPr lang="en-US" sz="2030">
                <a:solidFill>
                  <a:srgbClr val="E0E0E0"/>
                </a:solidFill>
                <a:latin typeface="Quattrocento"/>
                <a:ea typeface="Quattrocento"/>
                <a:cs typeface="Quattrocento"/>
                <a:sym typeface="Quattrocento"/>
              </a:rPr>
              <a:t>Sistema de autenticación · Gestión de datos en memoria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0" y="9999297"/>
            <a:ext cx="18284428" cy="285693"/>
            <a:chOff x="0" y="0"/>
            <a:chExt cx="24379238" cy="3809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79301" cy="380873"/>
            </a:xfrm>
            <a:custGeom>
              <a:avLst/>
              <a:gdLst/>
              <a:ahLst/>
              <a:cxnLst/>
              <a:rect r="r" b="b" t="t" l="l"/>
              <a:pathLst>
                <a:path h="3808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0873"/>
                  </a:lnTo>
                  <a:lnTo>
                    <a:pt x="0" y="380873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DAHNeFuceP4</dc:identifier>
  <dcterms:modified xsi:type="dcterms:W3CDTF">2011-08-01T06:04:30Z</dcterms:modified>
  <cp:revision>1</cp:revision>
  <dc:title>PetFind - Prototipo 3_ Análisis del Código.pptx</dc:title>
</cp:coreProperties>
</file>